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7"/>
  </p:notesMasterIdLst>
  <p:sldIdLst>
    <p:sldId id="256" r:id="rId3"/>
    <p:sldId id="258" r:id="rId4"/>
    <p:sldId id="294" r:id="rId5"/>
    <p:sldId id="261" r:id="rId6"/>
    <p:sldId id="284" r:id="rId8"/>
    <p:sldId id="295" r:id="rId9"/>
    <p:sldId id="276" r:id="rId10"/>
    <p:sldId id="277" r:id="rId11"/>
    <p:sldId id="296" r:id="rId12"/>
    <p:sldId id="297" r:id="rId13"/>
    <p:sldId id="298" r:id="rId14"/>
    <p:sldId id="264" r:id="rId15"/>
    <p:sldId id="278" r:id="rId16"/>
    <p:sldId id="279" r:id="rId17"/>
    <p:sldId id="293" r:id="rId18"/>
    <p:sldId id="299" r:id="rId19"/>
    <p:sldId id="300" r:id="rId20"/>
    <p:sldId id="301" r:id="rId21"/>
    <p:sldId id="302" r:id="rId2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3" userDrawn="1">
          <p15:clr>
            <a:srgbClr val="A4A3A4"/>
          </p15:clr>
        </p15:guide>
        <p15:guide id="2" pos="28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50" autoAdjust="0"/>
    <p:restoredTop sz="94660"/>
  </p:normalViewPr>
  <p:slideViewPr>
    <p:cSldViewPr showGuides="1">
      <p:cViewPr>
        <p:scale>
          <a:sx n="100" d="100"/>
          <a:sy n="100" d="100"/>
        </p:scale>
        <p:origin x="787" y="29"/>
      </p:cViewPr>
      <p:guideLst>
        <p:guide orient="horz" pos="1623"/>
        <p:guide pos="283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9B89670-D41F-4097-8FD9-CE442ED0FA1F}" type="datetimeFigureOut">
              <a:rPr lang="en-IN" smtClean="0"/>
            </a:fld>
            <a:endParaRPr lang="en-IN"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E56148-D431-4951-89CB-D4EA159A8CAB}" type="slidenum">
              <a:rPr lang="en-IN" smtClean="0"/>
            </a:fld>
            <a:endParaRPr lang="en-I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E56148-D431-4951-89CB-D4EA159A8CAB}" type="slidenum">
              <a:rPr lang="en-IN" smtClean="0"/>
            </a:fld>
            <a:endParaRPr lang="en-I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E56148-D431-4951-89CB-D4EA159A8CAB}" type="slidenum">
              <a:rPr lang="en-IN" smtClean="0"/>
            </a:fld>
            <a:endParaRPr lang="en-I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E56148-D431-4951-89CB-D4EA159A8CAB}" type="slidenum">
              <a:rPr lang="en-IN" smtClean="0"/>
            </a:fld>
            <a:endParaRPr lang="en-I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E56148-D431-4951-89CB-D4EA159A8CAB}" type="slidenum">
              <a:rPr lang="en-IN" smtClean="0"/>
            </a:fld>
            <a:endParaRPr lang="en-I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E56148-D431-4951-89CB-D4EA159A8CAB}" type="slidenum">
              <a:rPr lang="en-IN" smtClean="0"/>
            </a:fld>
            <a:endParaRPr lang="en-I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E56148-D431-4951-89CB-D4EA159A8CAB}" type="slidenum">
              <a:rPr lang="en-IN" smtClean="0"/>
            </a:fld>
            <a:endParaRPr lang="en-I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E56148-D431-4951-89CB-D4EA159A8CAB}" type="slidenum">
              <a:rPr lang="en-IN" smtClean="0"/>
            </a:fld>
            <a:endParaRPr lang="en-I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E56148-D431-4951-89CB-D4EA159A8CAB}" type="slidenum">
              <a:rPr lang="en-IN" smtClean="0"/>
            </a:fld>
            <a:endParaRPr lang="en-I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E56148-D431-4951-89CB-D4EA159A8CAB}" type="slidenum">
              <a:rPr lang="en-IN" smtClean="0"/>
            </a:fld>
            <a:endParaRPr lang="en-I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E56148-D431-4951-89CB-D4EA159A8CAB}" type="slidenum">
              <a:rPr lang="en-IN" smtClean="0"/>
            </a:fld>
            <a:endParaRPr lang="en-I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E56148-D431-4951-89CB-D4EA159A8CAB}" type="slidenum">
              <a:rPr lang="en-IN" smtClean="0"/>
            </a:fld>
            <a:endParaRPr lang="en-I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E56148-D431-4951-89CB-D4EA159A8CAB}" type="slidenum">
              <a:rPr lang="en-IN" smtClean="0"/>
            </a:fld>
            <a:endParaRPr lang="en-I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E56148-D431-4951-89CB-D4EA159A8CAB}" type="slidenum">
              <a:rPr lang="en-IN" smtClean="0"/>
            </a:fld>
            <a:endParaRPr lang="en-I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E56148-D431-4951-89CB-D4EA159A8CAB}" type="slidenum">
              <a:rPr lang="en-IN" smtClean="0"/>
            </a:fld>
            <a:endParaRPr lang="en-I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E56148-D431-4951-89CB-D4EA159A8CAB}" type="slidenum">
              <a:rPr lang="en-IN" smtClean="0"/>
            </a:fld>
            <a:endParaRPr lang="en-I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E56148-D431-4951-89CB-D4EA159A8CAB}" type="slidenum">
              <a:rPr lang="en-IN" smtClean="0"/>
            </a:fld>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1"/>
            <a:ext cx="7772400" cy="1102519"/>
          </a:xfrm>
        </p:spPr>
        <p:txBody>
          <a:bodyPr/>
          <a:lstStyle/>
          <a:p>
            <a:r>
              <a:rPr lang="en-US"/>
              <a:t>Click to edit Master title style</a:t>
            </a:r>
            <a:endParaRPr lang="en-IN"/>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F22365C-35B6-4E90-87EF-426F291342C7}" type="datetime1">
              <a:rPr lang="en-IN" smtClean="0"/>
            </a:fld>
            <a:endParaRPr lang="en-IN" dirty="0"/>
          </a:p>
        </p:txBody>
      </p:sp>
      <p:sp>
        <p:nvSpPr>
          <p:cNvPr id="5" name="Footer Placeholder 4"/>
          <p:cNvSpPr>
            <a:spLocks noGrp="1"/>
          </p:cNvSpPr>
          <p:nvPr>
            <p:ph type="ftr" sz="quarter" idx="11"/>
          </p:nvPr>
        </p:nvSpPr>
        <p:spPr/>
        <p:txBody>
          <a:bodyPr/>
          <a:lstStyle/>
          <a:p>
            <a:r>
              <a:rPr lang="en-IN" dirty="0"/>
              <a:t>BRINDAVAN COLLEGE OF ENGINEERING, Dept. of CSE, BRCE</a:t>
            </a:r>
            <a:endParaRPr lang="en-IN" dirty="0"/>
          </a:p>
        </p:txBody>
      </p:sp>
      <p:sp>
        <p:nvSpPr>
          <p:cNvPr id="6" name="Slide Number Placeholder 5"/>
          <p:cNvSpPr>
            <a:spLocks noGrp="1"/>
          </p:cNvSpPr>
          <p:nvPr>
            <p:ph type="sldNum" sz="quarter" idx="12"/>
          </p:nvPr>
        </p:nvSpPr>
        <p:spPr/>
        <p:txBody>
          <a:bodyPr/>
          <a:lstStyle/>
          <a:p>
            <a:fld id="{80999B1E-9774-4338-A494-7EE81CDA6832}" type="slidenum">
              <a:rPr lang="en-IN" smtClean="0"/>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E94C4397-3790-46C5-9D9A-7E1893981F11}" type="datetime1">
              <a:rPr lang="en-IN" smtClean="0"/>
            </a:fld>
            <a:endParaRPr lang="en-IN" dirty="0"/>
          </a:p>
        </p:txBody>
      </p:sp>
      <p:sp>
        <p:nvSpPr>
          <p:cNvPr id="5" name="Footer Placeholder 4"/>
          <p:cNvSpPr>
            <a:spLocks noGrp="1"/>
          </p:cNvSpPr>
          <p:nvPr>
            <p:ph type="ftr" sz="quarter" idx="11"/>
          </p:nvPr>
        </p:nvSpPr>
        <p:spPr/>
        <p:txBody>
          <a:bodyPr/>
          <a:lstStyle/>
          <a:p>
            <a:r>
              <a:rPr lang="en-IN" dirty="0"/>
              <a:t>BRINDAVAN COLLEGE OF ENGINEERING, Dept. of CSE, BRCE</a:t>
            </a:r>
            <a:endParaRPr lang="en-IN" dirty="0"/>
          </a:p>
        </p:txBody>
      </p:sp>
      <p:sp>
        <p:nvSpPr>
          <p:cNvPr id="6" name="Slide Number Placeholder 5"/>
          <p:cNvSpPr>
            <a:spLocks noGrp="1"/>
          </p:cNvSpPr>
          <p:nvPr>
            <p:ph type="sldNum" sz="quarter" idx="12"/>
          </p:nvPr>
        </p:nvSpPr>
        <p:spPr/>
        <p:txBody>
          <a:bodyPr/>
          <a:lstStyle/>
          <a:p>
            <a:fld id="{80999B1E-9774-4338-A494-7EE81CDA6832}" type="slidenum">
              <a:rPr lang="en-IN" smtClean="0"/>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7"/>
            <a:ext cx="7772400" cy="1021556"/>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FDD1AB17-73D7-41EC-81C1-3F9A03D731B8}" type="datetime1">
              <a:rPr lang="en-IN" smtClean="0"/>
            </a:fld>
            <a:endParaRPr lang="en-IN" dirty="0"/>
          </a:p>
        </p:txBody>
      </p:sp>
      <p:sp>
        <p:nvSpPr>
          <p:cNvPr id="5" name="Footer Placeholder 4"/>
          <p:cNvSpPr>
            <a:spLocks noGrp="1"/>
          </p:cNvSpPr>
          <p:nvPr>
            <p:ph type="ftr" sz="quarter" idx="11"/>
          </p:nvPr>
        </p:nvSpPr>
        <p:spPr/>
        <p:txBody>
          <a:bodyPr/>
          <a:lstStyle/>
          <a:p>
            <a:r>
              <a:rPr lang="en-IN" dirty="0"/>
              <a:t>BRINDAVAN COLLEGE OF ENGINEERING, Dept. of CSE, BRCE</a:t>
            </a:r>
            <a:endParaRPr lang="en-IN" dirty="0"/>
          </a:p>
        </p:txBody>
      </p:sp>
      <p:sp>
        <p:nvSpPr>
          <p:cNvPr id="6" name="Slide Number Placeholder 5"/>
          <p:cNvSpPr>
            <a:spLocks noGrp="1"/>
          </p:cNvSpPr>
          <p:nvPr>
            <p:ph type="sldNum" sz="quarter" idx="12"/>
          </p:nvPr>
        </p:nvSpPr>
        <p:spPr/>
        <p:txBody>
          <a:bodyPr/>
          <a:lstStyle/>
          <a:p>
            <a:fld id="{80999B1E-9774-4338-A494-7EE81CDA6832}" type="slidenum">
              <a:rPr lang="en-IN" smtClean="0"/>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200152"/>
            <a:ext cx="54102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200152"/>
            <a:ext cx="54102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87653C1D-3998-4B8C-873D-6A5BD6161F23}" type="datetime1">
              <a:rPr lang="en-IN" smtClean="0"/>
            </a:fld>
            <a:endParaRPr lang="en-IN" dirty="0"/>
          </a:p>
        </p:txBody>
      </p:sp>
      <p:sp>
        <p:nvSpPr>
          <p:cNvPr id="6" name="Footer Placeholder 5"/>
          <p:cNvSpPr>
            <a:spLocks noGrp="1"/>
          </p:cNvSpPr>
          <p:nvPr>
            <p:ph type="ftr" sz="quarter" idx="11"/>
          </p:nvPr>
        </p:nvSpPr>
        <p:spPr/>
        <p:txBody>
          <a:bodyPr/>
          <a:lstStyle/>
          <a:p>
            <a:r>
              <a:rPr lang="en-IN" dirty="0"/>
              <a:t>BRINDAVAN COLLEGE OF ENGINEERING, Dept. of CSE, BRCE</a:t>
            </a:r>
            <a:endParaRPr lang="en-IN" dirty="0"/>
          </a:p>
        </p:txBody>
      </p:sp>
      <p:sp>
        <p:nvSpPr>
          <p:cNvPr id="7" name="Slide Number Placeholder 6"/>
          <p:cNvSpPr>
            <a:spLocks noGrp="1"/>
          </p:cNvSpPr>
          <p:nvPr>
            <p:ph type="sldNum" sz="quarter" idx="12"/>
          </p:nvPr>
        </p:nvSpPr>
        <p:spPr/>
        <p:txBody>
          <a:bodyPr/>
          <a:lstStyle/>
          <a:p>
            <a:fld id="{80999B1E-9774-4338-A494-7EE81CDA6832}" type="slidenum">
              <a:rPr lang="en-IN" smtClean="0"/>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4645027"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7"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25939B7C-05B7-415A-87DA-8D432DA8820D}" type="datetime1">
              <a:rPr lang="en-IN" smtClean="0"/>
            </a:fld>
            <a:endParaRPr lang="en-IN" dirty="0"/>
          </a:p>
        </p:txBody>
      </p:sp>
      <p:sp>
        <p:nvSpPr>
          <p:cNvPr id="8" name="Footer Placeholder 7"/>
          <p:cNvSpPr>
            <a:spLocks noGrp="1"/>
          </p:cNvSpPr>
          <p:nvPr>
            <p:ph type="ftr" sz="quarter" idx="11"/>
          </p:nvPr>
        </p:nvSpPr>
        <p:spPr/>
        <p:txBody>
          <a:bodyPr/>
          <a:lstStyle/>
          <a:p>
            <a:r>
              <a:rPr lang="en-IN" dirty="0"/>
              <a:t>BRINDAVAN COLLEGE OF ENGINEERING, Dept. of CSE, BRCE</a:t>
            </a:r>
            <a:endParaRPr lang="en-IN" dirty="0"/>
          </a:p>
        </p:txBody>
      </p:sp>
      <p:sp>
        <p:nvSpPr>
          <p:cNvPr id="9" name="Slide Number Placeholder 8"/>
          <p:cNvSpPr>
            <a:spLocks noGrp="1"/>
          </p:cNvSpPr>
          <p:nvPr>
            <p:ph type="sldNum" sz="quarter" idx="12"/>
          </p:nvPr>
        </p:nvSpPr>
        <p:spPr/>
        <p:txBody>
          <a:bodyPr/>
          <a:lstStyle/>
          <a:p>
            <a:fld id="{80999B1E-9774-4338-A494-7EE81CDA6832}" type="slidenum">
              <a:rPr lang="en-IN" smtClean="0"/>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8A606AA-7ADD-4D22-AAE8-112B028729E9}" type="datetime1">
              <a:rPr lang="en-IN" smtClean="0"/>
            </a:fld>
            <a:endParaRPr lang="en-IN" dirty="0"/>
          </a:p>
        </p:txBody>
      </p:sp>
      <p:sp>
        <p:nvSpPr>
          <p:cNvPr id="4" name="Footer Placeholder 3"/>
          <p:cNvSpPr>
            <a:spLocks noGrp="1"/>
          </p:cNvSpPr>
          <p:nvPr>
            <p:ph type="ftr" sz="quarter" idx="11"/>
          </p:nvPr>
        </p:nvSpPr>
        <p:spPr/>
        <p:txBody>
          <a:bodyPr/>
          <a:lstStyle/>
          <a:p>
            <a:r>
              <a:rPr lang="en-IN" dirty="0"/>
              <a:t>BRINDAVAN COLLEGE OF ENGINEERING, Dept. of CSE, BRCE</a:t>
            </a:r>
            <a:endParaRPr lang="en-IN" dirty="0"/>
          </a:p>
        </p:txBody>
      </p:sp>
      <p:sp>
        <p:nvSpPr>
          <p:cNvPr id="5" name="Slide Number Placeholder 4"/>
          <p:cNvSpPr>
            <a:spLocks noGrp="1"/>
          </p:cNvSpPr>
          <p:nvPr>
            <p:ph type="sldNum" sz="quarter" idx="12"/>
          </p:nvPr>
        </p:nvSpPr>
        <p:spPr/>
        <p:txBody>
          <a:bodyPr/>
          <a:lstStyle/>
          <a:p>
            <a:fld id="{80999B1E-9774-4338-A494-7EE81CDA6832}" type="slidenum">
              <a:rPr lang="en-IN" smtClean="0"/>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DD4507-725A-4BC5-9F0D-714679A93837}" type="datetime1">
              <a:rPr lang="en-IN" smtClean="0"/>
            </a:fld>
            <a:endParaRPr lang="en-IN" dirty="0"/>
          </a:p>
        </p:txBody>
      </p:sp>
      <p:sp>
        <p:nvSpPr>
          <p:cNvPr id="3" name="Footer Placeholder 2"/>
          <p:cNvSpPr>
            <a:spLocks noGrp="1"/>
          </p:cNvSpPr>
          <p:nvPr>
            <p:ph type="ftr" sz="quarter" idx="11"/>
          </p:nvPr>
        </p:nvSpPr>
        <p:spPr/>
        <p:txBody>
          <a:bodyPr/>
          <a:lstStyle/>
          <a:p>
            <a:r>
              <a:rPr lang="en-IN" dirty="0"/>
              <a:t>BRINDAVAN COLLEGE OF ENGINEERING, Dept. of CSE, BRCE</a:t>
            </a:r>
            <a:endParaRPr lang="en-IN" dirty="0"/>
          </a:p>
        </p:txBody>
      </p:sp>
      <p:sp>
        <p:nvSpPr>
          <p:cNvPr id="4" name="Slide Number Placeholder 3"/>
          <p:cNvSpPr>
            <a:spLocks noGrp="1"/>
          </p:cNvSpPr>
          <p:nvPr>
            <p:ph type="sldNum" sz="quarter" idx="12"/>
          </p:nvPr>
        </p:nvSpPr>
        <p:spPr/>
        <p:txBody>
          <a:bodyPr/>
          <a:lstStyle/>
          <a:p>
            <a:fld id="{80999B1E-9774-4338-A494-7EE81CDA6832}" type="slidenum">
              <a:rPr lang="en-IN" smtClean="0"/>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04787"/>
            <a:ext cx="3008313" cy="871538"/>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457202"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76EE4E1-C1B9-40DD-AB0D-F1854A4002F4}" type="datetime1">
              <a:rPr lang="en-IN" smtClean="0"/>
            </a:fld>
            <a:endParaRPr lang="en-IN" dirty="0"/>
          </a:p>
        </p:txBody>
      </p:sp>
      <p:sp>
        <p:nvSpPr>
          <p:cNvPr id="6" name="Footer Placeholder 5"/>
          <p:cNvSpPr>
            <a:spLocks noGrp="1"/>
          </p:cNvSpPr>
          <p:nvPr>
            <p:ph type="ftr" sz="quarter" idx="11"/>
          </p:nvPr>
        </p:nvSpPr>
        <p:spPr/>
        <p:txBody>
          <a:bodyPr/>
          <a:lstStyle/>
          <a:p>
            <a:r>
              <a:rPr lang="en-IN" dirty="0"/>
              <a:t>BRINDAVAN COLLEGE OF ENGINEERING, Dept. of CSE, BRCE</a:t>
            </a:r>
            <a:endParaRPr lang="en-IN" dirty="0"/>
          </a:p>
        </p:txBody>
      </p:sp>
      <p:sp>
        <p:nvSpPr>
          <p:cNvPr id="7" name="Slide Number Placeholder 6"/>
          <p:cNvSpPr>
            <a:spLocks noGrp="1"/>
          </p:cNvSpPr>
          <p:nvPr>
            <p:ph type="sldNum" sz="quarter" idx="12"/>
          </p:nvPr>
        </p:nvSpPr>
        <p:spPr/>
        <p:txBody>
          <a:bodyPr/>
          <a:lstStyle/>
          <a:p>
            <a:fld id="{80999B1E-9774-4338-A494-7EE81CDA6832}" type="slidenum">
              <a:rPr lang="en-IN" smtClean="0"/>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3A6CC263-9964-4356-B6A5-BD78C7B0DDB2}" type="datetime1">
              <a:rPr lang="en-IN" smtClean="0"/>
            </a:fld>
            <a:endParaRPr lang="en-IN" dirty="0"/>
          </a:p>
        </p:txBody>
      </p:sp>
      <p:sp>
        <p:nvSpPr>
          <p:cNvPr id="6" name="Footer Placeholder 5"/>
          <p:cNvSpPr>
            <a:spLocks noGrp="1"/>
          </p:cNvSpPr>
          <p:nvPr>
            <p:ph type="ftr" sz="quarter" idx="11"/>
          </p:nvPr>
        </p:nvSpPr>
        <p:spPr/>
        <p:txBody>
          <a:bodyPr/>
          <a:lstStyle/>
          <a:p>
            <a:r>
              <a:rPr lang="en-IN" dirty="0"/>
              <a:t>BRINDAVAN COLLEGE OF ENGINEERING, Dept. of CSE, BRCE</a:t>
            </a:r>
            <a:endParaRPr lang="en-IN" dirty="0"/>
          </a:p>
        </p:txBody>
      </p:sp>
      <p:sp>
        <p:nvSpPr>
          <p:cNvPr id="7" name="Slide Number Placeholder 6"/>
          <p:cNvSpPr>
            <a:spLocks noGrp="1"/>
          </p:cNvSpPr>
          <p:nvPr>
            <p:ph type="sldNum" sz="quarter" idx="12"/>
          </p:nvPr>
        </p:nvSpPr>
        <p:spPr/>
        <p:txBody>
          <a:bodyPr/>
          <a:lstStyle/>
          <a:p>
            <a:fld id="{80999B1E-9774-4338-A494-7EE81CDA6832}" type="slidenum">
              <a:rPr lang="en-IN" smtClean="0"/>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2CA51769-951B-409E-B2BD-2ACF7B6D4E84}" type="datetime1">
              <a:rPr lang="en-IN" smtClean="0"/>
            </a:fld>
            <a:endParaRPr lang="en-IN" dirty="0"/>
          </a:p>
        </p:txBody>
      </p:sp>
      <p:sp>
        <p:nvSpPr>
          <p:cNvPr id="5" name="Footer Placeholder 4"/>
          <p:cNvSpPr>
            <a:spLocks noGrp="1"/>
          </p:cNvSpPr>
          <p:nvPr>
            <p:ph type="ftr" sz="quarter" idx="11"/>
          </p:nvPr>
        </p:nvSpPr>
        <p:spPr/>
        <p:txBody>
          <a:bodyPr/>
          <a:lstStyle/>
          <a:p>
            <a:r>
              <a:rPr lang="en-IN" dirty="0"/>
              <a:t>BRINDAVAN COLLEGE OF ENGINEERING, Dept. of CSE, BRCE</a:t>
            </a:r>
            <a:endParaRPr lang="en-IN" dirty="0"/>
          </a:p>
        </p:txBody>
      </p:sp>
      <p:sp>
        <p:nvSpPr>
          <p:cNvPr id="6" name="Slide Number Placeholder 5"/>
          <p:cNvSpPr>
            <a:spLocks noGrp="1"/>
          </p:cNvSpPr>
          <p:nvPr>
            <p:ph type="sldNum" sz="quarter" idx="12"/>
          </p:nvPr>
        </p:nvSpPr>
        <p:spPr/>
        <p:txBody>
          <a:bodyPr/>
          <a:lstStyle/>
          <a:p>
            <a:fld id="{80999B1E-9774-4338-A494-7EE81CDA6832}" type="slidenum">
              <a:rPr lang="en-IN" smtClean="0"/>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05980"/>
            <a:ext cx="2743200" cy="4388644"/>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205980"/>
            <a:ext cx="8077200" cy="4388644"/>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6DA6D4B1-C811-4B71-939E-6155ED839C37}" type="datetime1">
              <a:rPr lang="en-IN" smtClean="0"/>
            </a:fld>
            <a:endParaRPr lang="en-IN" dirty="0"/>
          </a:p>
        </p:txBody>
      </p:sp>
      <p:sp>
        <p:nvSpPr>
          <p:cNvPr id="5" name="Footer Placeholder 4"/>
          <p:cNvSpPr>
            <a:spLocks noGrp="1"/>
          </p:cNvSpPr>
          <p:nvPr>
            <p:ph type="ftr" sz="quarter" idx="11"/>
          </p:nvPr>
        </p:nvSpPr>
        <p:spPr/>
        <p:txBody>
          <a:bodyPr/>
          <a:lstStyle/>
          <a:p>
            <a:r>
              <a:rPr lang="en-IN" dirty="0"/>
              <a:t>BRINDAVAN COLLEGE OF ENGINEERING, Dept. of CSE, BRCE</a:t>
            </a:r>
            <a:endParaRPr lang="en-IN" dirty="0"/>
          </a:p>
        </p:txBody>
      </p:sp>
      <p:sp>
        <p:nvSpPr>
          <p:cNvPr id="6" name="Slide Number Placeholder 5"/>
          <p:cNvSpPr>
            <a:spLocks noGrp="1"/>
          </p:cNvSpPr>
          <p:nvPr>
            <p:ph type="sldNum" sz="quarter" idx="12"/>
          </p:nvPr>
        </p:nvSpPr>
        <p:spPr/>
        <p:txBody>
          <a:bodyPr/>
          <a:lstStyle/>
          <a:p>
            <a:fld id="{80999B1E-9774-4338-A494-7EE81CDA6832}" type="slidenum">
              <a:rPr lang="en-IN" smtClean="0"/>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200152"/>
            <a:ext cx="8229600" cy="3394472"/>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A84A9CA-2A2B-4B78-8032-B88701671094}" type="datetime1">
              <a:rPr lang="en-IN" smtClean="0"/>
            </a:fld>
            <a:endParaRPr lang="en-IN" dirty="0"/>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BRINDAVAN COLLEGE OF ENGINEERING, Dept. of CSE, BRCE</a:t>
            </a:r>
            <a:endParaRPr lang="en-IN" dirty="0"/>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80999B1E-9774-4338-A494-7EE81CDA6832}" type="slidenum">
              <a:rPr lang="en-IN" smtClean="0"/>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4.xml"/><Relationship Id="rId2" Type="http://schemas.openxmlformats.org/officeDocument/2006/relationships/image" Target="../media/image2.jpeg"/><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9512" y="-2942"/>
            <a:ext cx="7488832" cy="701533"/>
          </a:xfrm>
        </p:spPr>
        <p:txBody>
          <a:bodyPr>
            <a:noAutofit/>
          </a:bodyPr>
          <a:lstStyle/>
          <a:p>
            <a:endParaRPr lang="en-IN" altLang="en-US" sz="3600" dirty="0" err="1">
              <a:solidFill>
                <a:schemeClr val="tx2">
                  <a:lumMod val="75000"/>
                </a:schemeClr>
              </a:solidFill>
              <a:latin typeface="AmericanText BT" panose="03040702020708020505" pitchFamily="66" charset="0"/>
            </a:endParaRPr>
          </a:p>
        </p:txBody>
      </p:sp>
      <p:sp>
        <p:nvSpPr>
          <p:cNvPr id="8" name="TextBox 7"/>
          <p:cNvSpPr txBox="1"/>
          <p:nvPr/>
        </p:nvSpPr>
        <p:spPr>
          <a:xfrm>
            <a:off x="611561" y="2834311"/>
            <a:ext cx="4464496" cy="1600438"/>
          </a:xfrm>
          <a:prstGeom prst="rect">
            <a:avLst/>
          </a:prstGeom>
          <a:noFill/>
        </p:spPr>
        <p:txBody>
          <a:bodyPr wrap="square" rtlCol="0">
            <a:spAutoFit/>
          </a:bodyPr>
          <a:lstStyle/>
          <a:p>
            <a:r>
              <a:rPr lang="en-IN" b="1" dirty="0">
                <a:solidFill>
                  <a:schemeClr val="tx2">
                    <a:lumMod val="50000"/>
                  </a:schemeClr>
                </a:solidFill>
                <a:latin typeface="Cambria" panose="02040503050406030204" pitchFamily="18" charset="0"/>
                <a:ea typeface="Cambria" panose="02040503050406030204" pitchFamily="18" charset="0"/>
                <a:cs typeface="Times New Roman" panose="02020603050405020304" pitchFamily="18" charset="0"/>
              </a:rPr>
              <a:t>Presentation By: Batch- 06</a:t>
            </a:r>
            <a:endParaRPr lang="en-IN" b="1" dirty="0">
              <a:solidFill>
                <a:schemeClr val="tx2">
                  <a:lumMod val="50000"/>
                </a:schemeClr>
              </a:solidFill>
              <a:latin typeface="Cambria" panose="02040503050406030204" pitchFamily="18" charset="0"/>
              <a:ea typeface="Cambria" panose="02040503050406030204" pitchFamily="18" charset="0"/>
              <a:cs typeface="Times New Roman" panose="02020603050405020304" pitchFamily="18" charset="0"/>
            </a:endParaRPr>
          </a:p>
          <a:p>
            <a:endParaRPr lang="en-IN" b="1" dirty="0">
              <a:solidFill>
                <a:schemeClr val="tx2">
                  <a:lumMod val="50000"/>
                </a:schemeClr>
              </a:solidFill>
              <a:latin typeface="Cambria" panose="02040503050406030204" pitchFamily="18" charset="0"/>
              <a:ea typeface="Cambria" panose="02040503050406030204" pitchFamily="18" charset="0"/>
              <a:cs typeface="Times New Roman" panose="02020603050405020304" pitchFamily="18" charset="0"/>
            </a:endParaRPr>
          </a:p>
          <a:p>
            <a:r>
              <a:rPr lang="en-IN" sz="1400" b="1" dirty="0">
                <a:solidFill>
                  <a:schemeClr val="tx2">
                    <a:lumMod val="50000"/>
                  </a:schemeClr>
                </a:solidFill>
                <a:latin typeface="Times New Roman" panose="02020603050405020304" pitchFamily="18" charset="0"/>
                <a:ea typeface="Cambria" panose="02040503050406030204" pitchFamily="18" charset="0"/>
                <a:cs typeface="Times New Roman" panose="02020603050405020304" pitchFamily="18" charset="0"/>
              </a:rPr>
              <a:t>Name</a:t>
            </a:r>
            <a:r>
              <a:rPr lang="en-IN" sz="1400" dirty="0">
                <a:solidFill>
                  <a:schemeClr val="tx2">
                    <a:lumMod val="50000"/>
                  </a:schemeClr>
                </a:solidFill>
                <a:latin typeface="Cambria" panose="02040503050406030204" pitchFamily="18" charset="0"/>
                <a:ea typeface="Cambria" panose="02040503050406030204" pitchFamily="18" charset="0"/>
                <a:cs typeface="Times New Roman" panose="02020603050405020304" pitchFamily="18" charset="0"/>
              </a:rPr>
              <a:t> 		                               </a:t>
            </a:r>
            <a:r>
              <a:rPr lang="en-IN" sz="1400" b="1" dirty="0">
                <a:solidFill>
                  <a:schemeClr val="tx2">
                    <a:lumMod val="50000"/>
                  </a:schemeClr>
                </a:solidFill>
                <a:latin typeface="Cambria" panose="02040503050406030204" pitchFamily="18" charset="0"/>
                <a:ea typeface="Cambria" panose="02040503050406030204" pitchFamily="18" charset="0"/>
                <a:cs typeface="Times New Roman" panose="02020603050405020304" pitchFamily="18" charset="0"/>
              </a:rPr>
              <a:t>USN</a:t>
            </a:r>
            <a:endParaRPr lang="en-IN" sz="1400" b="1" dirty="0">
              <a:solidFill>
                <a:schemeClr val="tx2">
                  <a:lumMod val="50000"/>
                </a:schemeClr>
              </a:solidFill>
              <a:latin typeface="Cambria" panose="02040503050406030204" pitchFamily="18" charset="0"/>
              <a:ea typeface="Cambria" panose="02040503050406030204" pitchFamily="18" charset="0"/>
              <a:cs typeface="Times New Roman" panose="02020603050405020304" pitchFamily="18" charset="0"/>
            </a:endParaRPr>
          </a:p>
          <a:p>
            <a:r>
              <a:rPr lang="en-US" sz="1200" dirty="0">
                <a:solidFill>
                  <a:schemeClr val="tx2">
                    <a:lumMod val="50000"/>
                  </a:schemeClr>
                </a:solidFill>
                <a:latin typeface="Times New Roman" panose="02020603050405020304" pitchFamily="18" charset="0"/>
                <a:ea typeface="Cambria" panose="02040503050406030204" pitchFamily="18" charset="0"/>
                <a:cs typeface="Times New Roman" panose="02020603050405020304" pitchFamily="18" charset="0"/>
              </a:rPr>
              <a:t>CHAITHANYA. M                                             1BO22CS013</a:t>
            </a:r>
            <a:endParaRPr lang="en-US" sz="1200" dirty="0">
              <a:solidFill>
                <a:schemeClr val="tx2">
                  <a:lumMod val="50000"/>
                </a:schemeClr>
              </a:solidFill>
              <a:latin typeface="Times New Roman" panose="02020603050405020304" pitchFamily="18" charset="0"/>
              <a:ea typeface="Cambria" panose="02040503050406030204" pitchFamily="18" charset="0"/>
              <a:cs typeface="Times New Roman" panose="02020603050405020304" pitchFamily="18" charset="0"/>
            </a:endParaRPr>
          </a:p>
          <a:p>
            <a:r>
              <a:rPr lang="en-US" sz="1200" dirty="0">
                <a:solidFill>
                  <a:schemeClr val="tx2">
                    <a:lumMod val="50000"/>
                  </a:schemeClr>
                </a:solidFill>
                <a:latin typeface="Times New Roman" panose="02020603050405020304" pitchFamily="18" charset="0"/>
                <a:ea typeface="Cambria" panose="02040503050406030204" pitchFamily="18" charset="0"/>
                <a:cs typeface="Times New Roman" panose="02020603050405020304" pitchFamily="18" charset="0"/>
              </a:rPr>
              <a:t>LIKHITH. E                                                        1BO22CS038</a:t>
            </a:r>
            <a:endParaRPr lang="en-US" sz="1200" dirty="0">
              <a:solidFill>
                <a:schemeClr val="tx2">
                  <a:lumMod val="50000"/>
                </a:schemeClr>
              </a:solidFill>
              <a:latin typeface="Times New Roman" panose="02020603050405020304" pitchFamily="18" charset="0"/>
              <a:ea typeface="Cambria" panose="02040503050406030204" pitchFamily="18" charset="0"/>
              <a:cs typeface="Times New Roman" panose="02020603050405020304" pitchFamily="18" charset="0"/>
            </a:endParaRPr>
          </a:p>
          <a:p>
            <a:r>
              <a:rPr lang="en-US" sz="1200" dirty="0">
                <a:solidFill>
                  <a:schemeClr val="tx2">
                    <a:lumMod val="50000"/>
                  </a:schemeClr>
                </a:solidFill>
                <a:latin typeface="Times New Roman" panose="02020603050405020304" pitchFamily="18" charset="0"/>
                <a:ea typeface="Cambria" panose="02040503050406030204" pitchFamily="18" charset="0"/>
                <a:cs typeface="Times New Roman" panose="02020603050405020304" pitchFamily="18" charset="0"/>
              </a:rPr>
              <a:t>NITHIN. P                                                           1BO22CS048</a:t>
            </a:r>
            <a:endParaRPr lang="en-US" sz="1200" dirty="0">
              <a:solidFill>
                <a:schemeClr val="tx2">
                  <a:lumMod val="50000"/>
                </a:schemeClr>
              </a:solidFill>
              <a:latin typeface="Times New Roman" panose="02020603050405020304" pitchFamily="18" charset="0"/>
              <a:ea typeface="Cambria" panose="02040503050406030204" pitchFamily="18" charset="0"/>
              <a:cs typeface="Times New Roman" panose="02020603050405020304" pitchFamily="18" charset="0"/>
            </a:endParaRPr>
          </a:p>
          <a:p>
            <a:r>
              <a:rPr lang="en-US" sz="1200" dirty="0">
                <a:solidFill>
                  <a:schemeClr val="tx2">
                    <a:lumMod val="50000"/>
                  </a:schemeClr>
                </a:solidFill>
                <a:latin typeface="Times New Roman" panose="02020603050405020304" pitchFamily="18" charset="0"/>
                <a:ea typeface="Cambria" panose="02040503050406030204" pitchFamily="18" charset="0"/>
                <a:cs typeface="Times New Roman" panose="02020603050405020304" pitchFamily="18" charset="0"/>
              </a:rPr>
              <a:t>SHREYA. T                                                         1BO22CS067</a:t>
            </a:r>
            <a:endParaRPr lang="en-US" sz="1200" dirty="0">
              <a:solidFill>
                <a:schemeClr val="tx2">
                  <a:lumMod val="50000"/>
                </a:schemeClr>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5" name="Rectangle 4"/>
          <p:cNvSpPr/>
          <p:nvPr/>
        </p:nvSpPr>
        <p:spPr>
          <a:xfrm>
            <a:off x="780415" y="1563370"/>
            <a:ext cx="7546975" cy="922020"/>
          </a:xfrm>
          <a:prstGeom prst="rect">
            <a:avLst/>
          </a:prstGeom>
        </p:spPr>
        <p:txBody>
          <a:bodyPr wrap="square">
            <a:spAutoFit/>
          </a:bodyPr>
          <a:lstStyle/>
          <a:p>
            <a:pPr algn="ctr">
              <a:lnSpc>
                <a:spcPct val="150000"/>
              </a:lnSpc>
              <a:spcBef>
                <a:spcPct val="0"/>
              </a:spcBef>
            </a:pPr>
            <a:endParaRPr lang="en-IN" b="1" dirty="0">
              <a:solidFill>
                <a:srgbClr val="FF0000"/>
              </a:solidFill>
              <a:latin typeface="Times New Roman" panose="02020603050405020304" pitchFamily="18" charset="0"/>
              <a:ea typeface="+mj-ea"/>
              <a:cs typeface="Times New Roman" panose="02020603050405020304" pitchFamily="18" charset="0"/>
            </a:endParaRPr>
          </a:p>
          <a:p>
            <a:pPr algn="ctr">
              <a:lnSpc>
                <a:spcPct val="150000"/>
              </a:lnSpc>
              <a:spcBef>
                <a:spcPct val="0"/>
              </a:spcBef>
            </a:pPr>
            <a:r>
              <a:rPr lang="en-IN" b="1" dirty="0">
                <a:solidFill>
                  <a:srgbClr val="FF0000"/>
                </a:solidFill>
                <a:latin typeface="Times New Roman" panose="02020603050405020304" pitchFamily="18" charset="0"/>
                <a:ea typeface="+mj-ea"/>
                <a:cs typeface="Times New Roman" panose="02020603050405020304" pitchFamily="18" charset="0"/>
              </a:rPr>
              <a:t>“D</a:t>
            </a:r>
            <a:r>
              <a:rPr lang="en-US" altLang="en-IN" b="1" dirty="0">
                <a:solidFill>
                  <a:srgbClr val="FF0000"/>
                </a:solidFill>
                <a:latin typeface="Times New Roman" panose="02020603050405020304" pitchFamily="18" charset="0"/>
                <a:ea typeface="+mj-ea"/>
                <a:cs typeface="Times New Roman" panose="02020603050405020304" pitchFamily="18" charset="0"/>
              </a:rPr>
              <a:t>iabetic Foot Ulcer Detection System</a:t>
            </a:r>
            <a:r>
              <a:rPr lang="en-IN" b="1" dirty="0">
                <a:solidFill>
                  <a:srgbClr val="FF0000"/>
                </a:solidFill>
                <a:latin typeface="Times New Roman" panose="02020603050405020304" pitchFamily="18" charset="0"/>
                <a:ea typeface="+mj-ea"/>
                <a:cs typeface="Times New Roman" panose="02020603050405020304" pitchFamily="18" charset="0"/>
              </a:rPr>
              <a:t>”</a:t>
            </a:r>
            <a:endParaRPr lang="en-IN" b="1" dirty="0">
              <a:solidFill>
                <a:srgbClr val="FF0000"/>
              </a:solidFill>
              <a:latin typeface="Times New Roman" panose="02020603050405020304" pitchFamily="18" charset="0"/>
              <a:ea typeface="+mj-ea"/>
              <a:cs typeface="Times New Roman" panose="02020603050405020304" pitchFamily="18" charset="0"/>
            </a:endParaRPr>
          </a:p>
        </p:txBody>
      </p:sp>
      <p:sp>
        <p:nvSpPr>
          <p:cNvPr id="4" name="TextBox 3"/>
          <p:cNvSpPr txBox="1"/>
          <p:nvPr/>
        </p:nvSpPr>
        <p:spPr>
          <a:xfrm>
            <a:off x="-331356" y="1040606"/>
            <a:ext cx="8888730" cy="369332"/>
          </a:xfrm>
          <a:prstGeom prst="rect">
            <a:avLst/>
          </a:prstGeom>
          <a:noFill/>
        </p:spPr>
        <p:txBody>
          <a:bodyPr wrap="square" rtlCol="0">
            <a:spAutoFit/>
          </a:bodyPr>
          <a:lstStyle/>
          <a:p>
            <a:r>
              <a:rPr lang="en-IN" altLang="en-US" b="1"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DEPARTMENT OF COMPUTER SCIENCE AND ENGINEERING</a:t>
            </a:r>
            <a:endParaRPr lang="en-IN"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2486660" y="1491615"/>
            <a:ext cx="4170680" cy="368300"/>
          </a:xfrm>
          <a:prstGeom prst="rect">
            <a:avLst/>
          </a:prstGeom>
          <a:noFill/>
        </p:spPr>
        <p:txBody>
          <a:bodyPr wrap="square" rtlCol="0">
            <a:spAutoFit/>
          </a:bodyPr>
          <a:lstStyle/>
          <a:p>
            <a:r>
              <a:rPr lang="en-IN" altLang="en-US" b="1"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 project presentation on</a:t>
            </a:r>
            <a:endParaRPr lang="en-IN"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5868144" y="3147814"/>
            <a:ext cx="3096344" cy="1076325"/>
          </a:xfrm>
          <a:prstGeom prst="rect">
            <a:avLst/>
          </a:prstGeom>
          <a:noFill/>
        </p:spPr>
        <p:txBody>
          <a:bodyPr wrap="square" rtlCol="0">
            <a:spAutoFit/>
          </a:bodyPr>
          <a:lstStyle/>
          <a:p>
            <a:endParaRPr lang="en-US" b="1"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rPr>
              <a:t>Under the Guidance of</a:t>
            </a:r>
            <a:endParaRPr lang="en-US" b="1" dirty="0">
              <a:latin typeface="Times New Roman" panose="02020603050405020304" pitchFamily="18" charset="0"/>
              <a:cs typeface="Times New Roman" panose="02020603050405020304" pitchFamily="18" charset="0"/>
            </a:endParaRPr>
          </a:p>
          <a:p>
            <a:pPr algn="ctr"/>
            <a:r>
              <a:rPr lang="en-US" sz="1400" dirty="0">
                <a:latin typeface="Times New Roman" panose="02020603050405020304" pitchFamily="18" charset="0"/>
                <a:cs typeface="Times New Roman" panose="02020603050405020304" pitchFamily="18" charset="0"/>
              </a:rPr>
              <a:t>Dr. </a:t>
            </a:r>
            <a:r>
              <a:rPr lang="en-US" sz="1400" dirty="0" err="1">
                <a:latin typeface="Times New Roman" panose="02020603050405020304" pitchFamily="18" charset="0"/>
                <a:cs typeface="Times New Roman" panose="02020603050405020304" pitchFamily="18" charset="0"/>
              </a:rPr>
              <a:t>Sureshu</a:t>
            </a:r>
            <a:endParaRPr lang="en-US" sz="1400" dirty="0">
              <a:latin typeface="Times New Roman" panose="02020603050405020304" pitchFamily="18" charset="0"/>
              <a:cs typeface="Times New Roman" panose="02020603050405020304" pitchFamily="18" charset="0"/>
            </a:endParaRPr>
          </a:p>
          <a:p>
            <a:pPr algn="ctr"/>
            <a:r>
              <a:rPr lang="en-US" sz="1400" dirty="0">
                <a:latin typeface="Times New Roman" panose="02020603050405020304" pitchFamily="18" charset="0"/>
                <a:cs typeface="Times New Roman" panose="02020603050405020304" pitchFamily="18" charset="0"/>
              </a:rPr>
              <a:t> HOD, Dept of CSE, BrCE</a:t>
            </a:r>
            <a:endParaRPr lang="en-IN" sz="1400" dirty="0">
              <a:latin typeface="Times New Roman" panose="02020603050405020304" pitchFamily="18" charset="0"/>
              <a:cs typeface="Times New Roman" panose="02020603050405020304" pitchFamily="18" charset="0"/>
            </a:endParaRPr>
          </a:p>
        </p:txBody>
      </p:sp>
      <p:sp>
        <p:nvSpPr>
          <p:cNvPr id="11" name="TextBox 6"/>
          <p:cNvSpPr txBox="1"/>
          <p:nvPr/>
        </p:nvSpPr>
        <p:spPr>
          <a:xfrm>
            <a:off x="0" y="51435"/>
            <a:ext cx="910844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3600" dirty="0">
                <a:solidFill>
                  <a:schemeClr val="bg1"/>
                </a:solidFill>
                <a:latin typeface="AmericanText BT" panose="03040702020708020505" pitchFamily="66" charset="0"/>
                <a:cs typeface="American Text" panose="02000503020000020004" pitchFamily="2" charset="0"/>
              </a:rPr>
              <a:t>Brindavan College of Engineering</a:t>
            </a:r>
            <a:r>
              <a:rPr lang="en-IN" sz="4800" dirty="0">
                <a:solidFill>
                  <a:schemeClr val="bg1"/>
                </a:solidFill>
                <a:latin typeface="AmericanText BT" panose="03040702020708020505" pitchFamily="66" charset="0"/>
                <a:cs typeface="Times New Roman" panose="02020603050405020304" pitchFamily="18" charset="0"/>
              </a:rPr>
              <a:t>  </a:t>
            </a:r>
            <a:endParaRPr lang="en-IN" sz="4800" dirty="0">
              <a:solidFill>
                <a:schemeClr val="bg1"/>
              </a:solidFill>
              <a:latin typeface="AmericanText BT" panose="03040702020708020505" pitchFamily="66" charset="0"/>
              <a:cs typeface="Times New Roman" panose="02020603050405020304" pitchFamily="18" charset="0"/>
            </a:endParaRPr>
          </a:p>
        </p:txBody>
      </p:sp>
      <p:pic>
        <p:nvPicPr>
          <p:cNvPr id="1026" name="Picture 2" descr="C:\Users\ENGG_CSE_HOD\Desktop\new logo (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28384" y="1"/>
            <a:ext cx="1080056" cy="8880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35560" y="0"/>
            <a:ext cx="910844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endParaRPr lang="en-IN" sz="4800" dirty="0">
              <a:solidFill>
                <a:schemeClr val="bg1"/>
              </a:solidFill>
              <a:latin typeface="AmericanText BT" panose="03040702020708020505" pitchFamily="66" charset="0"/>
              <a:cs typeface="Times New Roman" panose="02020603050405020304" pitchFamily="18" charset="0"/>
            </a:endParaRPr>
          </a:p>
        </p:txBody>
      </p:sp>
      <p:sp>
        <p:nvSpPr>
          <p:cNvPr id="2" name="Title 1"/>
          <p:cNvSpPr>
            <a:spLocks noGrp="1"/>
          </p:cNvSpPr>
          <p:nvPr>
            <p:ph type="title"/>
          </p:nvPr>
        </p:nvSpPr>
        <p:spPr>
          <a:xfrm>
            <a:off x="0" y="-27305"/>
            <a:ext cx="8229600" cy="857250"/>
          </a:xfrm>
        </p:spPr>
        <p:txBody>
          <a:bodyPr>
            <a:normAutofit/>
          </a:bodyPr>
          <a:lstStyle/>
          <a:p>
            <a:r>
              <a:rPr lang="en-US" sz="2400" b="1" dirty="0">
                <a:solidFill>
                  <a:schemeClr val="bg1"/>
                </a:solidFill>
                <a:latin typeface="Times New Roman" panose="02020603050405020304" pitchFamily="18" charset="0"/>
                <a:cs typeface="Times New Roman" panose="02020603050405020304" pitchFamily="18" charset="0"/>
              </a:rPr>
              <a:t>CONTENTS</a:t>
            </a:r>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609600" y="1200152"/>
            <a:ext cx="6482680" cy="3243806"/>
          </a:xfrm>
        </p:spPr>
        <p:txBody>
          <a:bodyPr>
            <a:normAutofit fontScale="97500"/>
          </a:bodyPr>
          <a:lstStyle/>
          <a:p>
            <a:pPr algn="just">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Problem Statement</a:t>
            </a:r>
            <a:endParaRPr lang="en-IN"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Literature Survey</a:t>
            </a:r>
            <a:endParaRPr lang="en-IN"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Proposed System/ Methodology</a:t>
            </a:r>
            <a:endParaRPr lang="en-IN"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Progress</a:t>
            </a:r>
            <a:endParaRPr lang="en-IN"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Core Modules</a:t>
            </a:r>
            <a:endParaRPr lang="en-IN"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Hardware and software Integration system</a:t>
            </a:r>
            <a:endParaRPr lang="en-IN"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Model</a:t>
            </a:r>
            <a:endParaRPr lang="en-IN"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Testing and Validation</a:t>
            </a:r>
            <a:endParaRPr lang="en-IN" sz="1800" dirty="0">
              <a:latin typeface="Times New Roman" panose="02020603050405020304" pitchFamily="18" charset="0"/>
              <a:cs typeface="Times New Roman" panose="02020603050405020304" pitchFamily="18" charset="0"/>
            </a:endParaRPr>
          </a:p>
          <a:p>
            <a:pPr marL="0" indent="0" algn="just">
              <a:buNone/>
            </a:pPr>
            <a:endParaRPr lang="en-IN" sz="1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endParaRPr lang="en-IN" sz="1800" i="1" dirty="0">
              <a:solidFill>
                <a:srgbClr val="002060"/>
              </a:solidFill>
              <a:latin typeface="Cambria" panose="02040503050406030204" pitchFamily="18" charset="0"/>
            </a:endParaRPr>
          </a:p>
        </p:txBody>
      </p:sp>
      <p:sp>
        <p:nvSpPr>
          <p:cNvPr id="8" name="Slide Number Placeholder 7"/>
          <p:cNvSpPr>
            <a:spLocks noGrp="1"/>
          </p:cNvSpPr>
          <p:nvPr>
            <p:ph type="sldNum" sz="quarter" idx="12"/>
          </p:nvPr>
        </p:nvSpPr>
        <p:spPr/>
        <p:txBody>
          <a:bodyPr/>
          <a:lstStyle/>
          <a:p>
            <a:fld id="{80999B1E-9774-4338-A494-7EE81CDA6832}" type="slidenum">
              <a:rPr lang="en-IN" smtClean="0"/>
            </a:fld>
            <a:endParaRPr lang="en-IN" dirty="0"/>
          </a:p>
        </p:txBody>
      </p:sp>
      <p:pic>
        <p:nvPicPr>
          <p:cNvPr id="9" name="Picture 2" descr="C:\Users\ENGG_CSE_HOD\Desktop\new logo (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63944" y="-44140"/>
            <a:ext cx="1080056" cy="8880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35560" y="0"/>
            <a:ext cx="910844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endParaRPr lang="en-IN" sz="4800" dirty="0">
              <a:solidFill>
                <a:schemeClr val="bg1"/>
              </a:solidFill>
              <a:latin typeface="AmericanText BT" panose="03040702020708020505" pitchFamily="66" charset="0"/>
              <a:cs typeface="Times New Roman" panose="02020603050405020304" pitchFamily="18" charset="0"/>
            </a:endParaRPr>
          </a:p>
        </p:txBody>
      </p:sp>
      <p:sp>
        <p:nvSpPr>
          <p:cNvPr id="2" name="Title 1"/>
          <p:cNvSpPr>
            <a:spLocks noGrp="1"/>
          </p:cNvSpPr>
          <p:nvPr>
            <p:ph type="title"/>
          </p:nvPr>
        </p:nvSpPr>
        <p:spPr>
          <a:xfrm>
            <a:off x="0" y="-27305"/>
            <a:ext cx="8229600" cy="857250"/>
          </a:xfrm>
        </p:spPr>
        <p:txBody>
          <a:bodyPr>
            <a:normAutofit/>
          </a:bodyPr>
          <a:lstStyle/>
          <a:p>
            <a:r>
              <a:rPr lang="en-US" sz="2400" b="1" dirty="0">
                <a:solidFill>
                  <a:schemeClr val="bg1"/>
                </a:solidFill>
                <a:latin typeface="Times New Roman" panose="02020603050405020304" pitchFamily="18" charset="0"/>
                <a:cs typeface="Times New Roman" panose="02020603050405020304" pitchFamily="18" charset="0"/>
              </a:rPr>
              <a:t>PROBLEM STATEMENT</a:t>
            </a:r>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457200" y="1059582"/>
            <a:ext cx="8064896" cy="4142833"/>
          </a:xfrm>
        </p:spPr>
        <p:txBody>
          <a:bodyPr>
            <a:noAutofit/>
          </a:bodyPr>
          <a:lstStyle/>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Diabetes mellitus frequently leads to chronic wounds characterized by impaired healing, prolonged inflammation, poor vascularization, and increased susceptibility to infection. </a:t>
            </a: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These wounds, often occurring in the lower limbs as diabetic foot ulcers, pose major medical, social, and economic burdens. Existing wound care approaches are often inadequate due to the complex pathophysiology involving hyperglycemia, vascular dysfunction, neuropathy, compromised immune response, and frequent recurrence or chronicity. </a:t>
            </a: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There is a critical need for comprehensive solutions that improve early detection, monitoring, and treatment of diabetic chronic wounds to reduce complication rates, prevent amputations, and enhance quality of life for affected individuals.</a:t>
            </a: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D-AID project aims to develop an integrated system/application that supports the effective management and treatment of diabetic chronic wounds by employing advanced monitoring, intelligent assessment, and personalized intervention strategies, ultimately improving clinical outcomes for diabetic patients suffering from chronic wound conditions.</a:t>
            </a: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IN"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endParaRPr lang="en-IN" sz="1600" i="1" dirty="0">
              <a:solidFill>
                <a:srgbClr val="00206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80999B1E-9774-4338-A494-7EE81CDA6832}" type="slidenum">
              <a:rPr lang="en-IN" smtClean="0"/>
            </a:fld>
            <a:endParaRPr lang="en-IN" dirty="0"/>
          </a:p>
        </p:txBody>
      </p:sp>
      <p:pic>
        <p:nvPicPr>
          <p:cNvPr id="9" name="Picture 2" descr="C:\Users\ENGG_CSE_HOD\Desktop\new logo (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63944" y="-44140"/>
            <a:ext cx="1080056" cy="8880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35560" y="0"/>
            <a:ext cx="910844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endParaRPr lang="en-IN" sz="4800" dirty="0">
              <a:solidFill>
                <a:schemeClr val="bg1"/>
              </a:solidFill>
              <a:latin typeface="AmericanText BT" panose="03040702020708020505" pitchFamily="66" charset="0"/>
              <a:cs typeface="Times New Roman" panose="02020603050405020304" pitchFamily="18" charset="0"/>
            </a:endParaRPr>
          </a:p>
        </p:txBody>
      </p:sp>
      <p:sp>
        <p:nvSpPr>
          <p:cNvPr id="2" name="Title 1"/>
          <p:cNvSpPr>
            <a:spLocks noGrp="1"/>
          </p:cNvSpPr>
          <p:nvPr>
            <p:ph type="title"/>
          </p:nvPr>
        </p:nvSpPr>
        <p:spPr>
          <a:xfrm>
            <a:off x="0" y="-27305"/>
            <a:ext cx="8229600" cy="857250"/>
          </a:xfrm>
        </p:spPr>
        <p:txBody>
          <a:bodyPr>
            <a:normAutofit/>
          </a:bodyPr>
          <a:lstStyle/>
          <a:p>
            <a:r>
              <a:rPr lang="en-US" sz="2400" b="1" dirty="0">
                <a:solidFill>
                  <a:schemeClr val="bg1"/>
                </a:solidFill>
                <a:latin typeface="Times New Roman" panose="02020603050405020304" pitchFamily="18" charset="0"/>
                <a:cs typeface="Times New Roman" panose="02020603050405020304" pitchFamily="18" charset="0"/>
              </a:rPr>
              <a:t>LITERATURE SURVEY</a:t>
            </a:r>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80999B1E-9774-4338-A494-7EE81CDA6832}" type="slidenum">
              <a:rPr lang="en-IN" smtClean="0"/>
            </a:fld>
            <a:endParaRPr lang="en-IN" dirty="0"/>
          </a:p>
        </p:txBody>
      </p:sp>
      <p:pic>
        <p:nvPicPr>
          <p:cNvPr id="9" name="Picture 2" descr="C:\Users\ENGG_CSE_HOD\Desktop\new logo (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63944" y="-11757"/>
            <a:ext cx="1080056" cy="88804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p:cNvGraphicFramePr>
            <a:graphicFrameLocks noGrp="1"/>
          </p:cNvGraphicFramePr>
          <p:nvPr/>
        </p:nvGraphicFramePr>
        <p:xfrm>
          <a:off x="179512" y="845820"/>
          <a:ext cx="8636959" cy="4297680"/>
        </p:xfrm>
        <a:graphic>
          <a:graphicData uri="http://schemas.openxmlformats.org/drawingml/2006/table">
            <a:tbl>
              <a:tblPr firstRow="1" bandRow="1">
                <a:tableStyleId>{5C22544A-7EE6-4342-B048-85BDC9FD1C3A}</a:tableStyleId>
              </a:tblPr>
              <a:tblGrid>
                <a:gridCol w="720080"/>
                <a:gridCol w="1152128"/>
                <a:gridCol w="1512168"/>
                <a:gridCol w="1872208"/>
                <a:gridCol w="1472781"/>
                <a:gridCol w="1907594"/>
              </a:tblGrid>
              <a:tr h="272661">
                <a:tc>
                  <a:txBody>
                    <a:bodyPr/>
                    <a:lstStyle/>
                    <a:p>
                      <a:r>
                        <a:rPr lang="en-US" sz="1200" dirty="0">
                          <a:latin typeface="Times New Roman" panose="02020603050405020304" pitchFamily="18" charset="0"/>
                          <a:cs typeface="Times New Roman" panose="02020603050405020304" pitchFamily="18" charset="0"/>
                        </a:rPr>
                        <a:t>Year</a:t>
                      </a:r>
                      <a:endParaRPr lang="en-IN" sz="1200" dirty="0">
                        <a:latin typeface="Times New Roman" panose="02020603050405020304" pitchFamily="18" charset="0"/>
                        <a:cs typeface="Times New Roman" panose="02020603050405020304" pitchFamily="18" charset="0"/>
                      </a:endParaRPr>
                    </a:p>
                  </a:txBody>
                  <a:tcPr>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tcPr>
                </a:tc>
                <a:tc>
                  <a:txBody>
                    <a:bodyPr/>
                    <a:lstStyle/>
                    <a:p>
                      <a:r>
                        <a:rPr lang="en-US" sz="1200" dirty="0">
                          <a:latin typeface="Times New Roman" panose="02020603050405020304" pitchFamily="18" charset="0"/>
                          <a:cs typeface="Times New Roman" panose="02020603050405020304" pitchFamily="18" charset="0"/>
                        </a:rPr>
                        <a:t>Authors</a:t>
                      </a:r>
                      <a:endParaRPr lang="en-IN" sz="1200" dirty="0">
                        <a:latin typeface="Times New Roman" panose="02020603050405020304" pitchFamily="18" charset="0"/>
                        <a:cs typeface="Times New Roman" panose="02020603050405020304" pitchFamily="18" charset="0"/>
                      </a:endParaRPr>
                    </a:p>
                  </a:txBody>
                  <a:tcPr>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tcPr>
                </a:tc>
                <a:tc>
                  <a:txBody>
                    <a:bodyPr/>
                    <a:lstStyle/>
                    <a:p>
                      <a:r>
                        <a:rPr lang="en-US" sz="1200" dirty="0">
                          <a:latin typeface="Times New Roman" panose="02020603050405020304" pitchFamily="18" charset="0"/>
                          <a:cs typeface="Times New Roman" panose="02020603050405020304" pitchFamily="18" charset="0"/>
                        </a:rPr>
                        <a:t>Title </a:t>
                      </a:r>
                      <a:endParaRPr lang="en-IN" sz="1200" dirty="0">
                        <a:latin typeface="Times New Roman" panose="02020603050405020304" pitchFamily="18" charset="0"/>
                        <a:cs typeface="Times New Roman" panose="02020603050405020304" pitchFamily="18" charset="0"/>
                      </a:endParaRPr>
                    </a:p>
                  </a:txBody>
                  <a:tcPr>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tcPr>
                </a:tc>
                <a:tc>
                  <a:txBody>
                    <a:bodyPr/>
                    <a:lstStyle/>
                    <a:p>
                      <a:r>
                        <a:rPr lang="en-US" sz="1200" dirty="0">
                          <a:latin typeface="Times New Roman" panose="02020603050405020304" pitchFamily="18" charset="0"/>
                          <a:cs typeface="Times New Roman" panose="02020603050405020304" pitchFamily="18" charset="0"/>
                        </a:rPr>
                        <a:t>Methodology</a:t>
                      </a:r>
                      <a:endParaRPr lang="en-IN" sz="1200" dirty="0">
                        <a:latin typeface="Times New Roman" panose="02020603050405020304" pitchFamily="18" charset="0"/>
                        <a:cs typeface="Times New Roman" panose="02020603050405020304" pitchFamily="18" charset="0"/>
                      </a:endParaRPr>
                    </a:p>
                  </a:txBody>
                  <a:tcPr>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tcPr>
                </a:tc>
                <a:tc>
                  <a:txBody>
                    <a:bodyPr/>
                    <a:lstStyle/>
                    <a:p>
                      <a:r>
                        <a:rPr lang="en-US" sz="1200" dirty="0">
                          <a:latin typeface="Times New Roman" panose="02020603050405020304" pitchFamily="18" charset="0"/>
                          <a:cs typeface="Times New Roman" panose="02020603050405020304" pitchFamily="18" charset="0"/>
                        </a:rPr>
                        <a:t>Advantages</a:t>
                      </a:r>
                      <a:endParaRPr lang="en-IN" sz="1200" dirty="0">
                        <a:latin typeface="Times New Roman" panose="02020603050405020304" pitchFamily="18" charset="0"/>
                        <a:cs typeface="Times New Roman" panose="02020603050405020304" pitchFamily="18" charset="0"/>
                      </a:endParaRPr>
                    </a:p>
                  </a:txBody>
                  <a:tcPr>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tcPr>
                </a:tc>
                <a:tc>
                  <a:txBody>
                    <a:bodyPr/>
                    <a:lstStyle/>
                    <a:p>
                      <a:r>
                        <a:rPr lang="en-US" sz="1200" dirty="0">
                          <a:latin typeface="Times New Roman" panose="02020603050405020304" pitchFamily="18" charset="0"/>
                          <a:cs typeface="Times New Roman" panose="02020603050405020304" pitchFamily="18" charset="0"/>
                        </a:rPr>
                        <a:t>Disadvantages</a:t>
                      </a:r>
                      <a:endParaRPr lang="en-IN" sz="1200" dirty="0">
                        <a:latin typeface="Times New Roman" panose="02020603050405020304" pitchFamily="18" charset="0"/>
                        <a:cs typeface="Times New Roman" panose="02020603050405020304" pitchFamily="18" charset="0"/>
                      </a:endParaRPr>
                    </a:p>
                  </a:txBody>
                  <a:tcPr>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tcPr>
                </a:tc>
              </a:tr>
              <a:tr h="1726851">
                <a:tc>
                  <a:txBody>
                    <a:bodyPr/>
                    <a:lstStyle/>
                    <a:p>
                      <a:r>
                        <a:rPr lang="en-US" sz="1200" dirty="0">
                          <a:solidFill>
                            <a:schemeClr val="tx1"/>
                          </a:solidFill>
                          <a:latin typeface="Times New Roman" panose="02020603050405020304" pitchFamily="18" charset="0"/>
                          <a:cs typeface="Times New Roman" panose="02020603050405020304" pitchFamily="18" charset="0"/>
                        </a:rPr>
                        <a:t>2022</a:t>
                      </a:r>
                      <a:endParaRPr lang="en-IN" sz="1200" dirty="0">
                        <a:solidFill>
                          <a:schemeClr val="tx1"/>
                        </a:solidFill>
                        <a:latin typeface="Times New Roman" panose="02020603050405020304" pitchFamily="18" charset="0"/>
                        <a:cs typeface="Times New Roman" panose="02020603050405020304" pitchFamily="18" charset="0"/>
                      </a:endParaRPr>
                    </a:p>
                  </a:txBody>
                  <a:tcPr>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5400000" scaled="1"/>
                      <a:tileRect/>
                    </a:gradFill>
                  </a:tcPr>
                </a:tc>
                <a:tc>
                  <a:txBody>
                    <a:bodyPr/>
                    <a:lstStyle/>
                    <a:p>
                      <a:r>
                        <a:rPr lang="en-US" sz="1200" b="0" i="0" kern="1200" dirty="0">
                          <a:solidFill>
                            <a:schemeClr val="dk1"/>
                          </a:solidFill>
                          <a:effectLst/>
                          <a:latin typeface="Times New Roman" panose="02020603050405020304" pitchFamily="18" charset="0"/>
                          <a:ea typeface="+mn-ea"/>
                          <a:cs typeface="Times New Roman" panose="02020603050405020304" pitchFamily="18" charset="0"/>
                        </a:rPr>
                        <a:t>G. Merlin Sheeba; </a:t>
                      </a:r>
                      <a:endParaRPr lang="en-US" sz="1200" b="0" i="0" kern="1200" dirty="0">
                        <a:solidFill>
                          <a:schemeClr val="dk1"/>
                        </a:solidFill>
                        <a:effectLst/>
                        <a:latin typeface="Times New Roman" panose="02020603050405020304" pitchFamily="18" charset="0"/>
                        <a:ea typeface="+mn-ea"/>
                        <a:cs typeface="Times New Roman" panose="02020603050405020304" pitchFamily="18" charset="0"/>
                      </a:endParaRPr>
                    </a:p>
                    <a:p>
                      <a:r>
                        <a:rPr lang="en-US" sz="1200" b="0" i="0" kern="1200" dirty="0">
                          <a:solidFill>
                            <a:schemeClr val="dk1"/>
                          </a:solidFill>
                          <a:effectLst/>
                          <a:latin typeface="Times New Roman" panose="02020603050405020304" pitchFamily="18" charset="0"/>
                          <a:ea typeface="+mn-ea"/>
                          <a:cs typeface="Times New Roman" panose="02020603050405020304" pitchFamily="18" charset="0"/>
                        </a:rPr>
                        <a:t>Y. </a:t>
                      </a:r>
                      <a:r>
                        <a:rPr lang="en-US" sz="1200" b="0" i="0" kern="1200" dirty="0" err="1">
                          <a:solidFill>
                            <a:schemeClr val="dk1"/>
                          </a:solidFill>
                          <a:effectLst/>
                          <a:latin typeface="Times New Roman" panose="02020603050405020304" pitchFamily="18" charset="0"/>
                          <a:ea typeface="+mn-ea"/>
                          <a:cs typeface="Times New Roman" panose="02020603050405020304" pitchFamily="18" charset="0"/>
                        </a:rPr>
                        <a:t>Bevish</a:t>
                      </a:r>
                      <a:r>
                        <a:rPr lang="en-US" sz="1200" b="0" i="0" kern="1200" dirty="0">
                          <a:solidFill>
                            <a:schemeClr val="dk1"/>
                          </a:solidFill>
                          <a:effectLst/>
                          <a:latin typeface="Times New Roman" panose="02020603050405020304" pitchFamily="18" charset="0"/>
                          <a:ea typeface="+mn-ea"/>
                          <a:cs typeface="Times New Roman" panose="02020603050405020304" pitchFamily="18" charset="0"/>
                        </a:rPr>
                        <a:t> </a:t>
                      </a:r>
                      <a:r>
                        <a:rPr lang="en-US" sz="1200" b="0" i="0" kern="1200" dirty="0" err="1">
                          <a:solidFill>
                            <a:schemeClr val="dk1"/>
                          </a:solidFill>
                          <a:effectLst/>
                          <a:latin typeface="Times New Roman" panose="02020603050405020304" pitchFamily="18" charset="0"/>
                          <a:ea typeface="+mn-ea"/>
                          <a:cs typeface="Times New Roman" panose="02020603050405020304" pitchFamily="18" charset="0"/>
                        </a:rPr>
                        <a:t>Jinila</a:t>
                      </a:r>
                      <a:endParaRPr lang="en-IN" sz="1200" dirty="0">
                        <a:latin typeface="Times New Roman" panose="02020603050405020304" pitchFamily="18" charset="0"/>
                        <a:cs typeface="Times New Roman" panose="02020603050405020304" pitchFamily="18" charset="0"/>
                      </a:endParaRPr>
                    </a:p>
                  </a:txBody>
                  <a:tcPr>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5400000" scaled="1"/>
                      <a:tileRect/>
                    </a:gradFill>
                  </a:tcPr>
                </a:tc>
                <a:tc>
                  <a:txBody>
                    <a:bodyPr/>
                    <a:lstStyle/>
                    <a:p>
                      <a:pPr algn="l"/>
                      <a:r>
                        <a:rPr lang="en-US" sz="1200" i="0" dirty="0">
                          <a:solidFill>
                            <a:schemeClr val="tx1"/>
                          </a:solidFill>
                          <a:effectLst/>
                          <a:latin typeface="Times New Roman" panose="02020603050405020304" pitchFamily="18" charset="0"/>
                          <a:cs typeface="Times New Roman" panose="02020603050405020304" pitchFamily="18" charset="0"/>
                        </a:rPr>
                        <a:t>Performance evaluation of wearable IoT enabled network for rural health monitoring</a:t>
                      </a:r>
                      <a:endParaRPr lang="en-IN" sz="1200" dirty="0">
                        <a:solidFill>
                          <a:schemeClr val="tx1"/>
                        </a:solidFill>
                        <a:latin typeface="Times New Roman" panose="02020603050405020304" pitchFamily="18" charset="0"/>
                        <a:cs typeface="Times New Roman" panose="02020603050405020304" pitchFamily="18" charset="0"/>
                      </a:endParaRPr>
                    </a:p>
                  </a:txBody>
                  <a:tcPr>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5400000" scaled="1"/>
                      <a:tileRect/>
                    </a:gradFill>
                  </a:tcPr>
                </a:tc>
                <a:tc>
                  <a:txBody>
                    <a:bodyPr/>
                    <a:lstStyle/>
                    <a:p>
                      <a:pPr algn="just"/>
                      <a:r>
                        <a:rPr lang="en-US" sz="1200" b="0" i="0" dirty="0">
                          <a:solidFill>
                            <a:srgbClr val="333333"/>
                          </a:solidFill>
                          <a:effectLst/>
                          <a:latin typeface="Times New Roman" panose="02020603050405020304" pitchFamily="18" charset="0"/>
                          <a:cs typeface="Times New Roman" panose="02020603050405020304" pitchFamily="18" charset="0"/>
                        </a:rPr>
                        <a:t>Wearable Internet of Things (IoT)–enabled biosensors are attaining endless interest day by day. The growing healthcare demand and consciousness in elderly people has become one of the important aspects. </a:t>
                      </a:r>
                      <a:endParaRPr lang="en-IN" sz="1200" dirty="0">
                        <a:latin typeface="Times New Roman" panose="02020603050405020304" pitchFamily="18" charset="0"/>
                        <a:cs typeface="Times New Roman" panose="02020603050405020304" pitchFamily="18" charset="0"/>
                      </a:endParaRPr>
                    </a:p>
                  </a:txBody>
                  <a:tcPr>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5400000" scaled="1"/>
                      <a:tileRect/>
                    </a:gradFill>
                  </a:tcPr>
                </a:tc>
                <a:tc>
                  <a:txBody>
                    <a:bodyPr/>
                    <a:lstStyle/>
                    <a:p>
                      <a:r>
                        <a:rPr lang="en-US" sz="1200" dirty="0">
                          <a:latin typeface="Times New Roman" panose="02020603050405020304" pitchFamily="18" charset="0"/>
                          <a:cs typeface="Times New Roman" panose="02020603050405020304" pitchFamily="18" charset="0"/>
                        </a:rPr>
                        <a:t>Provides real time monitoring, ensures patient data privacy, and prevents unauthorized access through encryption.</a:t>
                      </a:r>
                      <a:endParaRPr lang="en-IN" sz="1200" dirty="0">
                        <a:latin typeface="Times New Roman" panose="02020603050405020304" pitchFamily="18" charset="0"/>
                        <a:cs typeface="Times New Roman" panose="02020603050405020304" pitchFamily="18" charset="0"/>
                      </a:endParaRPr>
                    </a:p>
                  </a:txBody>
                  <a:tcPr>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5400000" scaled="1"/>
                      <a:tileRect/>
                    </a:gradFill>
                  </a:tcPr>
                </a:tc>
                <a:tc>
                  <a:txBody>
                    <a:bodyPr/>
                    <a:lstStyle/>
                    <a:p>
                      <a:r>
                        <a:rPr lang="en-US" sz="1200" dirty="0">
                          <a:latin typeface="Times New Roman" panose="02020603050405020304" pitchFamily="18" charset="0"/>
                          <a:cs typeface="Times New Roman" panose="02020603050405020304" pitchFamily="18" charset="0"/>
                        </a:rPr>
                        <a:t>Rural environments often present physical and environmental challenges such as poor weather conditions, lack of electricity, or obstructive terrain, which can interfere with device performance and connectivity.</a:t>
                      </a:r>
                      <a:endParaRPr lang="en-IN" sz="1200" dirty="0">
                        <a:latin typeface="Times New Roman" panose="02020603050405020304" pitchFamily="18" charset="0"/>
                        <a:cs typeface="Times New Roman" panose="02020603050405020304" pitchFamily="18" charset="0"/>
                      </a:endParaRPr>
                    </a:p>
                  </a:txBody>
                  <a:tcPr>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5400000" scaled="1"/>
                      <a:tileRect/>
                    </a:gradFill>
                  </a:tcPr>
                </a:tc>
              </a:tr>
              <a:tr h="2272173">
                <a:tc>
                  <a:txBody>
                    <a:bodyPr/>
                    <a:lstStyle/>
                    <a:p>
                      <a:r>
                        <a:rPr lang="en-US" sz="1200" dirty="0">
                          <a:latin typeface="Times New Roman" panose="02020603050405020304" pitchFamily="18" charset="0"/>
                          <a:cs typeface="Times New Roman" panose="02020603050405020304" pitchFamily="18" charset="0"/>
                        </a:rPr>
                        <a:t>2014</a:t>
                      </a:r>
                      <a:endParaRPr lang="en-IN" sz="1200" dirty="0">
                        <a:latin typeface="Times New Roman" panose="02020603050405020304" pitchFamily="18" charset="0"/>
                        <a:cs typeface="Times New Roman" panose="02020603050405020304" pitchFamily="18" charset="0"/>
                      </a:endParaRPr>
                    </a:p>
                  </a:txBody>
                  <a:tcPr>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5400000" scaled="1"/>
                      <a:tileRect/>
                    </a:gradFill>
                  </a:tcPr>
                </a:tc>
                <a:tc>
                  <a:txBody>
                    <a:bodyPr/>
                    <a:lstStyle/>
                    <a:p>
                      <a:r>
                        <a:rPr lang="en-IN" sz="1200" b="0" i="0" kern="1200" dirty="0">
                          <a:solidFill>
                            <a:schemeClr val="dk1"/>
                          </a:solidFill>
                          <a:effectLst/>
                          <a:latin typeface="Times New Roman" panose="02020603050405020304" pitchFamily="18" charset="0"/>
                          <a:ea typeface="+mn-ea"/>
                          <a:cs typeface="Times New Roman" panose="02020603050405020304" pitchFamily="18" charset="0"/>
                        </a:rPr>
                        <a:t>M. Ochoa, R. Rahimi and B. </a:t>
                      </a:r>
                      <a:r>
                        <a:rPr lang="en-IN" sz="1200" b="0" i="0" kern="1200" dirty="0" err="1">
                          <a:solidFill>
                            <a:schemeClr val="dk1"/>
                          </a:solidFill>
                          <a:effectLst/>
                          <a:latin typeface="Times New Roman" panose="02020603050405020304" pitchFamily="18" charset="0"/>
                          <a:ea typeface="+mn-ea"/>
                          <a:cs typeface="Times New Roman" panose="02020603050405020304" pitchFamily="18" charset="0"/>
                        </a:rPr>
                        <a:t>Ziaie</a:t>
                      </a:r>
                      <a:endParaRPr lang="en-IN" sz="1200" dirty="0">
                        <a:latin typeface="Times New Roman" panose="02020603050405020304" pitchFamily="18" charset="0"/>
                        <a:cs typeface="Times New Roman" panose="02020603050405020304" pitchFamily="18" charset="0"/>
                      </a:endParaRPr>
                    </a:p>
                  </a:txBody>
                  <a:tcPr>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5400000" scaled="1"/>
                      <a:tileRect/>
                    </a:gradFill>
                  </a:tcPr>
                </a:tc>
                <a:tc>
                  <a:txBody>
                    <a:bodyPr/>
                    <a:lstStyle/>
                    <a:p>
                      <a:r>
                        <a:rPr lang="en-US" sz="1200" dirty="0">
                          <a:solidFill>
                            <a:schemeClr val="tx1"/>
                          </a:solidFill>
                          <a:latin typeface="Times New Roman" panose="02020603050405020304" pitchFamily="18" charset="0"/>
                          <a:cs typeface="Times New Roman" panose="02020603050405020304" pitchFamily="18" charset="0"/>
                        </a:rPr>
                        <a:t>Flexible sensors for chronic wound management</a:t>
                      </a:r>
                      <a:endParaRPr lang="en-IN" sz="1200" dirty="0">
                        <a:solidFill>
                          <a:schemeClr val="tx1"/>
                        </a:solidFill>
                        <a:latin typeface="Times New Roman" panose="02020603050405020304" pitchFamily="18" charset="0"/>
                        <a:cs typeface="Times New Roman" panose="02020603050405020304" pitchFamily="18" charset="0"/>
                      </a:endParaRPr>
                    </a:p>
                  </a:txBody>
                  <a:tcPr>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5400000" scaled="1"/>
                      <a:tileRect/>
                    </a:gradFill>
                  </a:tcPr>
                </a:tc>
                <a:tc>
                  <a:txBody>
                    <a:bodyPr/>
                    <a:lstStyle/>
                    <a:p>
                      <a:r>
                        <a:rPr lang="en-US" sz="1200" dirty="0">
                          <a:latin typeface="Times New Roman" panose="02020603050405020304" pitchFamily="18" charset="0"/>
                          <a:cs typeface="Times New Roman" panose="02020603050405020304" pitchFamily="18" charset="0"/>
                        </a:rPr>
                        <a:t>Chronic non-healing wounds are a major source of morbidity and mortality in bed-ridden and diabetic patients. Monitoring of physical and chemical parameters important in wound healing and remodeling process can be of immense benefit for optimum management of such lesions</a:t>
                      </a:r>
                      <a:endParaRPr lang="en-IN" sz="1200" dirty="0">
                        <a:latin typeface="Times New Roman" panose="02020603050405020304" pitchFamily="18" charset="0"/>
                        <a:cs typeface="Times New Roman" panose="02020603050405020304" pitchFamily="18" charset="0"/>
                      </a:endParaRPr>
                    </a:p>
                  </a:txBody>
                  <a:tcPr>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5400000" scaled="1"/>
                      <a:tileRect/>
                    </a:gradFill>
                  </a:tcPr>
                </a:tc>
                <a:tc>
                  <a:txBody>
                    <a:bodyPr/>
                    <a:lstStyle/>
                    <a:p>
                      <a:r>
                        <a:rPr lang="en-US" sz="1200" dirty="0">
                          <a:latin typeface="Times New Roman" panose="02020603050405020304" pitchFamily="18" charset="0"/>
                          <a:cs typeface="Times New Roman" panose="02020603050405020304" pitchFamily="18" charset="0"/>
                        </a:rPr>
                        <a:t>These sensors enable early detection of infections or delayed healing, which can significantly reduce complications and healthcare costs</a:t>
                      </a:r>
                      <a:endParaRPr lang="en-IN" sz="1200" dirty="0">
                        <a:latin typeface="Times New Roman" panose="02020603050405020304" pitchFamily="18" charset="0"/>
                        <a:cs typeface="Times New Roman" panose="02020603050405020304" pitchFamily="18" charset="0"/>
                      </a:endParaRPr>
                    </a:p>
                  </a:txBody>
                  <a:tcPr>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5400000" scaled="1"/>
                      <a:tileRect/>
                    </a:gradFill>
                  </a:tcPr>
                </a:tc>
                <a:tc>
                  <a:txBody>
                    <a:bodyPr/>
                    <a:lstStyle/>
                    <a:p>
                      <a:r>
                        <a:rPr lang="en-US" sz="1200" dirty="0">
                          <a:latin typeface="Times New Roman" panose="02020603050405020304" pitchFamily="18" charset="0"/>
                          <a:cs typeface="Times New Roman" panose="02020603050405020304" pitchFamily="18" charset="0"/>
                        </a:rPr>
                        <a:t>Interpretation of the sensor data may require specialized knowledge or clinical algorithms, which might not yet be standardized, potentially affecting the consistency and reliability of clinical decisions based on sensor outputs.</a:t>
                      </a:r>
                      <a:endParaRPr lang="en-IN" sz="1200" dirty="0">
                        <a:latin typeface="Times New Roman" panose="02020603050405020304" pitchFamily="18" charset="0"/>
                        <a:cs typeface="Times New Roman" panose="02020603050405020304" pitchFamily="18" charset="0"/>
                      </a:endParaRPr>
                    </a:p>
                  </a:txBody>
                  <a:tcPr>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5400000" scaled="1"/>
                      <a:tileRect/>
                    </a:gra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35560" y="0"/>
            <a:ext cx="910844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endParaRPr lang="en-IN" sz="4800" dirty="0">
              <a:solidFill>
                <a:schemeClr val="bg1"/>
              </a:solidFill>
              <a:latin typeface="AmericanText BT" panose="03040702020708020505" pitchFamily="66" charset="0"/>
              <a:cs typeface="Times New Roman" panose="02020603050405020304" pitchFamily="18" charset="0"/>
            </a:endParaRPr>
          </a:p>
        </p:txBody>
      </p:sp>
      <p:sp>
        <p:nvSpPr>
          <p:cNvPr id="2" name="Title 1"/>
          <p:cNvSpPr>
            <a:spLocks noGrp="1"/>
          </p:cNvSpPr>
          <p:nvPr>
            <p:ph type="title"/>
          </p:nvPr>
        </p:nvSpPr>
        <p:spPr>
          <a:xfrm>
            <a:off x="0" y="-27305"/>
            <a:ext cx="8229600" cy="857250"/>
          </a:xfrm>
        </p:spPr>
        <p:txBody>
          <a:bodyPr>
            <a:normAutofit/>
          </a:bodyPr>
          <a:lstStyle/>
          <a:p>
            <a:r>
              <a:rPr lang="en-US" sz="2400" b="1" dirty="0">
                <a:solidFill>
                  <a:schemeClr val="bg1"/>
                </a:solidFill>
                <a:latin typeface="Times New Roman" panose="02020603050405020304" pitchFamily="18" charset="0"/>
                <a:cs typeface="Times New Roman" panose="02020603050405020304" pitchFamily="18" charset="0"/>
              </a:rPr>
              <a:t>LITERATURE SURVEY</a:t>
            </a:r>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80999B1E-9774-4338-A494-7EE81CDA6832}" type="slidenum">
              <a:rPr lang="en-IN" smtClean="0"/>
            </a:fld>
            <a:endParaRPr lang="en-IN" dirty="0"/>
          </a:p>
        </p:txBody>
      </p:sp>
      <p:pic>
        <p:nvPicPr>
          <p:cNvPr id="9" name="Picture 2" descr="C:\Users\ENGG_CSE_HOD\Desktop\new logo (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63944" y="-11757"/>
            <a:ext cx="1080056" cy="88804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p:cNvGraphicFramePr>
            <a:graphicFrameLocks noGrp="1"/>
          </p:cNvGraphicFramePr>
          <p:nvPr/>
        </p:nvGraphicFramePr>
        <p:xfrm>
          <a:off x="179512" y="852090"/>
          <a:ext cx="8636959" cy="3453999"/>
        </p:xfrm>
        <a:graphic>
          <a:graphicData uri="http://schemas.openxmlformats.org/drawingml/2006/table">
            <a:tbl>
              <a:tblPr firstRow="1" bandRow="1">
                <a:tableStyleId>{5C22544A-7EE6-4342-B048-85BDC9FD1C3A}</a:tableStyleId>
              </a:tblPr>
              <a:tblGrid>
                <a:gridCol w="720080"/>
                <a:gridCol w="1152128"/>
                <a:gridCol w="1512168"/>
                <a:gridCol w="1872208"/>
                <a:gridCol w="1472781"/>
                <a:gridCol w="1907594"/>
              </a:tblGrid>
              <a:tr h="194630">
                <a:tc>
                  <a:txBody>
                    <a:bodyPr/>
                    <a:lstStyle/>
                    <a:p>
                      <a:r>
                        <a:rPr lang="en-US" sz="1200" dirty="0">
                          <a:solidFill>
                            <a:schemeClr val="bg1"/>
                          </a:solidFill>
                          <a:latin typeface="Times New Roman" panose="02020603050405020304" pitchFamily="18" charset="0"/>
                          <a:cs typeface="Times New Roman" panose="02020603050405020304" pitchFamily="18" charset="0"/>
                        </a:rPr>
                        <a:t>Year</a:t>
                      </a:r>
                      <a:endParaRPr lang="en-IN" sz="1200" dirty="0">
                        <a:solidFill>
                          <a:schemeClr val="bg1"/>
                        </a:solidFill>
                        <a:latin typeface="Times New Roman" panose="02020603050405020304" pitchFamily="18" charset="0"/>
                        <a:cs typeface="Times New Roman" panose="02020603050405020304" pitchFamily="18" charset="0"/>
                      </a:endParaRPr>
                    </a:p>
                  </a:txBody>
                  <a:tcPr>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tcPr>
                </a:tc>
                <a:tc>
                  <a:txBody>
                    <a:bodyPr/>
                    <a:lstStyle/>
                    <a:p>
                      <a:r>
                        <a:rPr lang="en-US" sz="1200" dirty="0">
                          <a:solidFill>
                            <a:schemeClr val="bg1"/>
                          </a:solidFill>
                          <a:latin typeface="Times New Roman" panose="02020603050405020304" pitchFamily="18" charset="0"/>
                          <a:cs typeface="Times New Roman" panose="02020603050405020304" pitchFamily="18" charset="0"/>
                        </a:rPr>
                        <a:t>Authors</a:t>
                      </a:r>
                      <a:endParaRPr lang="en-IN" sz="1200" dirty="0">
                        <a:solidFill>
                          <a:schemeClr val="bg1"/>
                        </a:solidFill>
                        <a:latin typeface="Times New Roman" panose="02020603050405020304" pitchFamily="18" charset="0"/>
                        <a:cs typeface="Times New Roman" panose="02020603050405020304" pitchFamily="18" charset="0"/>
                      </a:endParaRPr>
                    </a:p>
                  </a:txBody>
                  <a:tcPr>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tcPr>
                </a:tc>
                <a:tc>
                  <a:txBody>
                    <a:bodyPr/>
                    <a:lstStyle/>
                    <a:p>
                      <a:r>
                        <a:rPr lang="en-US" sz="1200" dirty="0">
                          <a:solidFill>
                            <a:schemeClr val="bg1"/>
                          </a:solidFill>
                          <a:latin typeface="Times New Roman" panose="02020603050405020304" pitchFamily="18" charset="0"/>
                          <a:cs typeface="Times New Roman" panose="02020603050405020304" pitchFamily="18" charset="0"/>
                        </a:rPr>
                        <a:t>Title </a:t>
                      </a:r>
                      <a:endParaRPr lang="en-IN" sz="1200" dirty="0">
                        <a:solidFill>
                          <a:schemeClr val="bg1"/>
                        </a:solidFill>
                        <a:latin typeface="Times New Roman" panose="02020603050405020304" pitchFamily="18" charset="0"/>
                        <a:cs typeface="Times New Roman" panose="02020603050405020304" pitchFamily="18" charset="0"/>
                      </a:endParaRPr>
                    </a:p>
                  </a:txBody>
                  <a:tcPr>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tcPr>
                </a:tc>
                <a:tc>
                  <a:txBody>
                    <a:bodyPr/>
                    <a:lstStyle/>
                    <a:p>
                      <a:r>
                        <a:rPr lang="en-US" sz="1200" dirty="0">
                          <a:solidFill>
                            <a:schemeClr val="bg1"/>
                          </a:solidFill>
                          <a:latin typeface="Times New Roman" panose="02020603050405020304" pitchFamily="18" charset="0"/>
                          <a:cs typeface="Times New Roman" panose="02020603050405020304" pitchFamily="18" charset="0"/>
                        </a:rPr>
                        <a:t>Methodology</a:t>
                      </a:r>
                      <a:endParaRPr lang="en-IN" sz="1200" dirty="0">
                        <a:solidFill>
                          <a:schemeClr val="bg1"/>
                        </a:solidFill>
                        <a:latin typeface="Times New Roman" panose="02020603050405020304" pitchFamily="18" charset="0"/>
                        <a:cs typeface="Times New Roman" panose="02020603050405020304" pitchFamily="18" charset="0"/>
                      </a:endParaRPr>
                    </a:p>
                  </a:txBody>
                  <a:tcPr>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tcPr>
                </a:tc>
                <a:tc>
                  <a:txBody>
                    <a:bodyPr/>
                    <a:lstStyle/>
                    <a:p>
                      <a:r>
                        <a:rPr lang="en-US" sz="1200" dirty="0">
                          <a:solidFill>
                            <a:schemeClr val="bg1"/>
                          </a:solidFill>
                          <a:latin typeface="Times New Roman" panose="02020603050405020304" pitchFamily="18" charset="0"/>
                          <a:cs typeface="Times New Roman" panose="02020603050405020304" pitchFamily="18" charset="0"/>
                        </a:rPr>
                        <a:t>Advantages</a:t>
                      </a:r>
                      <a:endParaRPr lang="en-IN" sz="1200" dirty="0">
                        <a:solidFill>
                          <a:schemeClr val="bg1"/>
                        </a:solidFill>
                        <a:latin typeface="Times New Roman" panose="02020603050405020304" pitchFamily="18" charset="0"/>
                        <a:cs typeface="Times New Roman" panose="02020603050405020304" pitchFamily="18" charset="0"/>
                      </a:endParaRPr>
                    </a:p>
                  </a:txBody>
                  <a:tcPr>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tcPr>
                </a:tc>
                <a:tc>
                  <a:txBody>
                    <a:bodyPr/>
                    <a:lstStyle/>
                    <a:p>
                      <a:r>
                        <a:rPr lang="en-US" sz="1200" dirty="0">
                          <a:solidFill>
                            <a:schemeClr val="bg1"/>
                          </a:solidFill>
                          <a:latin typeface="Times New Roman" panose="02020603050405020304" pitchFamily="18" charset="0"/>
                          <a:cs typeface="Times New Roman" panose="02020603050405020304" pitchFamily="18" charset="0"/>
                        </a:rPr>
                        <a:t>Disadvantages</a:t>
                      </a:r>
                      <a:endParaRPr lang="en-IN" sz="1200" dirty="0">
                        <a:solidFill>
                          <a:schemeClr val="bg1"/>
                        </a:solidFill>
                        <a:latin typeface="Times New Roman" panose="02020603050405020304" pitchFamily="18" charset="0"/>
                        <a:cs typeface="Times New Roman" panose="02020603050405020304" pitchFamily="18" charset="0"/>
                      </a:endParaRPr>
                    </a:p>
                  </a:txBody>
                  <a:tcPr>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tcPr>
                </a:tc>
              </a:tr>
              <a:tr h="2483379">
                <a:tc>
                  <a:txBody>
                    <a:bodyPr/>
                    <a:lstStyle/>
                    <a:p>
                      <a:r>
                        <a:rPr lang="en-IN" sz="1200" dirty="0">
                          <a:solidFill>
                            <a:schemeClr val="tx1"/>
                          </a:solidFill>
                          <a:latin typeface="Times New Roman" panose="02020603050405020304" pitchFamily="18" charset="0"/>
                          <a:cs typeface="Times New Roman" panose="02020603050405020304" pitchFamily="18" charset="0"/>
                        </a:rPr>
                        <a:t>2022</a:t>
                      </a:r>
                      <a:endParaRPr lang="en-IN" sz="1200" dirty="0">
                        <a:solidFill>
                          <a:schemeClr val="tx1"/>
                        </a:solidFill>
                        <a:latin typeface="Times New Roman" panose="02020603050405020304" pitchFamily="18" charset="0"/>
                        <a:cs typeface="Times New Roman" panose="02020603050405020304" pitchFamily="18" charset="0"/>
                      </a:endParaRPr>
                    </a:p>
                  </a:txBody>
                  <a:tcPr>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5400000" scaled="1"/>
                      <a:tileRect/>
                    </a:gradFill>
                  </a:tcPr>
                </a:tc>
                <a:tc>
                  <a:txBody>
                    <a:bodyPr/>
                    <a:lstStyle/>
                    <a:p>
                      <a:r>
                        <a:rPr lang="en-IN" sz="1200" b="0" i="0" kern="1200" dirty="0">
                          <a:solidFill>
                            <a:schemeClr val="tx1"/>
                          </a:solidFill>
                          <a:effectLst/>
                          <a:latin typeface="Times New Roman" panose="02020603050405020304" pitchFamily="18" charset="0"/>
                          <a:ea typeface="+mn-ea"/>
                          <a:cs typeface="Times New Roman" panose="02020603050405020304" pitchFamily="18" charset="0"/>
                        </a:rPr>
                        <a:t>M. A. Kafi, A. Paul, A. </a:t>
                      </a:r>
                      <a:r>
                        <a:rPr lang="en-IN" sz="1200" b="0" i="0" kern="1200" dirty="0" err="1">
                          <a:solidFill>
                            <a:schemeClr val="tx1"/>
                          </a:solidFill>
                          <a:effectLst/>
                          <a:latin typeface="Times New Roman" panose="02020603050405020304" pitchFamily="18" charset="0"/>
                          <a:ea typeface="+mn-ea"/>
                          <a:cs typeface="Times New Roman" panose="02020603050405020304" pitchFamily="18" charset="0"/>
                        </a:rPr>
                        <a:t>Vilouras</a:t>
                      </a:r>
                      <a:r>
                        <a:rPr lang="en-IN" sz="1200" b="0" i="0" kern="1200" dirty="0">
                          <a:solidFill>
                            <a:schemeClr val="tx1"/>
                          </a:solidFill>
                          <a:effectLst/>
                          <a:latin typeface="Times New Roman" panose="02020603050405020304" pitchFamily="18" charset="0"/>
                          <a:ea typeface="+mn-ea"/>
                          <a:cs typeface="Times New Roman" panose="02020603050405020304" pitchFamily="18" charset="0"/>
                        </a:rPr>
                        <a:t>, E. S. Hosseini and R. S. Dahiya</a:t>
                      </a:r>
                      <a:endParaRPr lang="en-IN" sz="1200" dirty="0">
                        <a:solidFill>
                          <a:schemeClr val="tx1"/>
                        </a:solidFill>
                        <a:latin typeface="Times New Roman" panose="02020603050405020304" pitchFamily="18" charset="0"/>
                        <a:cs typeface="Times New Roman" panose="02020603050405020304" pitchFamily="18" charset="0"/>
                      </a:endParaRPr>
                    </a:p>
                  </a:txBody>
                  <a:tcPr>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5400000" scaled="1"/>
                      <a:tileRect/>
                    </a:gradFill>
                  </a:tcPr>
                </a:tc>
                <a:tc>
                  <a:txBody>
                    <a:bodyPr/>
                    <a:lstStyle/>
                    <a:p>
                      <a:r>
                        <a:rPr lang="en-IN" sz="1200" dirty="0">
                          <a:solidFill>
                            <a:schemeClr val="tx1"/>
                          </a:solidFill>
                          <a:latin typeface="Times New Roman" panose="02020603050405020304" pitchFamily="18" charset="0"/>
                          <a:cs typeface="Times New Roman" panose="02020603050405020304" pitchFamily="18" charset="0"/>
                        </a:rPr>
                        <a:t>Flexible biosensor diabetic wound</a:t>
                      </a:r>
                      <a:endParaRPr lang="en-IN" sz="1200" dirty="0">
                        <a:solidFill>
                          <a:schemeClr val="tx1"/>
                        </a:solidFill>
                        <a:latin typeface="Times New Roman" panose="02020603050405020304" pitchFamily="18" charset="0"/>
                        <a:cs typeface="Times New Roman" panose="02020603050405020304" pitchFamily="18" charset="0"/>
                      </a:endParaRPr>
                    </a:p>
                  </a:txBody>
                  <a:tcPr>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5400000" scaled="1"/>
                      <a:tileRect/>
                    </a:gradFill>
                  </a:tcPr>
                </a:tc>
                <a:tc>
                  <a:txBody>
                    <a:bodyPr/>
                    <a:lstStyle/>
                    <a:p>
                      <a:pPr algn="just"/>
                      <a:r>
                        <a:rPr lang="en-US" sz="1200" dirty="0">
                          <a:solidFill>
                            <a:schemeClr val="tx1"/>
                          </a:solidFill>
                          <a:latin typeface="Times New Roman" panose="02020603050405020304" pitchFamily="18" charset="0"/>
                          <a:cs typeface="Times New Roman" panose="02020603050405020304" pitchFamily="18" charset="0"/>
                        </a:rPr>
                        <a:t>Chronic wounds present a serious health burden and are a source of staggering health care costs in developed countries. These numbers will certainly increase in the coming decades with the aging population and the increase in the prevalence of diabetes mellitus and its associated cutaneous ulcers</a:t>
                      </a:r>
                      <a:endParaRPr lang="en-IN" sz="1200" dirty="0">
                        <a:solidFill>
                          <a:schemeClr val="tx1"/>
                        </a:solidFill>
                        <a:latin typeface="Times New Roman" panose="02020603050405020304" pitchFamily="18" charset="0"/>
                        <a:cs typeface="Times New Roman" panose="02020603050405020304" pitchFamily="18" charset="0"/>
                      </a:endParaRPr>
                    </a:p>
                  </a:txBody>
                  <a:tcPr>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5400000" scaled="1"/>
                      <a:tileRect/>
                    </a:gradFill>
                  </a:tcPr>
                </a:tc>
                <a:tc>
                  <a:txBody>
                    <a:bodyPr/>
                    <a:lstStyle/>
                    <a:p>
                      <a:pPr algn="just"/>
                      <a:r>
                        <a:rPr lang="en-US" sz="1200" dirty="0">
                          <a:solidFill>
                            <a:schemeClr val="tx1"/>
                          </a:solidFill>
                          <a:latin typeface="Times New Roman" panose="02020603050405020304" pitchFamily="18" charset="0"/>
                          <a:cs typeface="Times New Roman" panose="02020603050405020304" pitchFamily="18" charset="0"/>
                        </a:rPr>
                        <a:t>The integration of flexible biosensors with wireless communication systems allows for remote health monitoring, which is particularly valuable for diabetic patients who require long-term care and frequent wound assessments</a:t>
                      </a:r>
                      <a:endParaRPr lang="en-IN" sz="1200" dirty="0">
                        <a:solidFill>
                          <a:schemeClr val="tx1"/>
                        </a:solidFill>
                        <a:latin typeface="Times New Roman" panose="02020603050405020304" pitchFamily="18" charset="0"/>
                        <a:cs typeface="Times New Roman" panose="02020603050405020304" pitchFamily="18" charset="0"/>
                      </a:endParaRPr>
                    </a:p>
                  </a:txBody>
                  <a:tcPr>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5400000" scaled="1"/>
                      <a:tileRect/>
                    </a:gradFill>
                  </a:tcPr>
                </a:tc>
                <a:tc>
                  <a:txBody>
                    <a:bodyPr/>
                    <a:lstStyle/>
                    <a:p>
                      <a:pPr algn="just"/>
                      <a:r>
                        <a:rPr lang="en-US" sz="1200" dirty="0">
                          <a:solidFill>
                            <a:schemeClr val="tx1"/>
                          </a:solidFill>
                          <a:latin typeface="Times New Roman" panose="02020603050405020304" pitchFamily="18" charset="0"/>
                          <a:cs typeface="Times New Roman" panose="02020603050405020304" pitchFamily="18" charset="0"/>
                        </a:rPr>
                        <a:t>Interpreting biosensor data may require advanced algorithms or clinical expertise, and currently, there is a lack of standardization in how this information is used in wound management protocols. Lastly, </a:t>
                      </a:r>
                      <a:r>
                        <a:rPr lang="en-US" sz="1200" b="1" dirty="0">
                          <a:solidFill>
                            <a:schemeClr val="tx1"/>
                          </a:solidFill>
                          <a:latin typeface="Times New Roman" panose="02020603050405020304" pitchFamily="18" charset="0"/>
                          <a:cs typeface="Times New Roman" panose="02020603050405020304" pitchFamily="18" charset="0"/>
                        </a:rPr>
                        <a:t>long-term biocompatibility</a:t>
                      </a:r>
                      <a:r>
                        <a:rPr lang="en-US" sz="1200" dirty="0">
                          <a:solidFill>
                            <a:schemeClr val="tx1"/>
                          </a:solidFill>
                          <a:latin typeface="Times New Roman" panose="02020603050405020304" pitchFamily="18" charset="0"/>
                          <a:cs typeface="Times New Roman" panose="02020603050405020304" pitchFamily="18" charset="0"/>
                        </a:rPr>
                        <a:t> and potential immune reactions remain concerns that need thorough investigation before clinical application.</a:t>
                      </a:r>
                      <a:endParaRPr lang="en-IN" sz="1200" dirty="0">
                        <a:solidFill>
                          <a:schemeClr val="tx1"/>
                        </a:solidFill>
                        <a:latin typeface="Times New Roman" panose="02020603050405020304" pitchFamily="18" charset="0"/>
                        <a:cs typeface="Times New Roman" panose="02020603050405020304" pitchFamily="18" charset="0"/>
                      </a:endParaRPr>
                    </a:p>
                  </a:txBody>
                  <a:tcPr>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5400000" scaled="1"/>
                      <a:tileRect/>
                    </a:gradFill>
                  </a:tcPr>
                </a:tc>
              </a:tr>
              <a:tr h="527919">
                <a:tc>
                  <a:txBody>
                    <a:bodyPr/>
                    <a:lstStyle/>
                    <a:p>
                      <a:endParaRPr lang="en-IN" sz="12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endParaRPr lang="en-IN" sz="12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endParaRPr lang="en-IN" sz="12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endParaRPr lang="en-IN" sz="12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endParaRPr lang="en-IN" sz="12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endParaRPr lang="en-IN" sz="1200" dirty="0">
                        <a:solidFill>
                          <a:schemeClr val="tx1"/>
                        </a:solidFill>
                        <a:latin typeface="Times New Roman" panose="02020603050405020304" pitchFamily="18" charset="0"/>
                        <a:cs typeface="Times New Roman" panose="02020603050405020304" pitchFamily="18" charset="0"/>
                      </a:endParaRPr>
                    </a:p>
                  </a:txBody>
                  <a:tcPr>
                    <a:no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35560" y="0"/>
            <a:ext cx="910844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endParaRPr lang="en-IN" sz="4800" dirty="0">
              <a:solidFill>
                <a:schemeClr val="bg1"/>
              </a:solidFill>
              <a:latin typeface="AmericanText BT" panose="03040702020708020505" pitchFamily="66" charset="0"/>
              <a:cs typeface="Times New Roman" panose="02020603050405020304" pitchFamily="18" charset="0"/>
            </a:endParaRPr>
          </a:p>
        </p:txBody>
      </p:sp>
      <p:sp>
        <p:nvSpPr>
          <p:cNvPr id="2" name="Title 1"/>
          <p:cNvSpPr>
            <a:spLocks noGrp="1"/>
          </p:cNvSpPr>
          <p:nvPr>
            <p:ph type="title"/>
          </p:nvPr>
        </p:nvSpPr>
        <p:spPr>
          <a:xfrm>
            <a:off x="0" y="-27305"/>
            <a:ext cx="8229600" cy="857250"/>
          </a:xfrm>
        </p:spPr>
        <p:txBody>
          <a:bodyPr>
            <a:normAutofit/>
          </a:bodyPr>
          <a:lstStyle/>
          <a:p>
            <a:r>
              <a:rPr lang="en-US" sz="2400" b="1" dirty="0">
                <a:solidFill>
                  <a:schemeClr val="bg1"/>
                </a:solidFill>
                <a:latin typeface="Times New Roman" panose="02020603050405020304" pitchFamily="18" charset="0"/>
                <a:cs typeface="Times New Roman" panose="02020603050405020304" pitchFamily="18" charset="0"/>
              </a:rPr>
              <a:t>METHODOLOGY</a:t>
            </a:r>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363242" y="987574"/>
            <a:ext cx="8219256" cy="4286838"/>
          </a:xfrm>
        </p:spPr>
        <p:txBody>
          <a:bodyPr>
            <a:noAutofit/>
          </a:bodyPr>
          <a:lstStyle/>
          <a:p>
            <a:pPr algn="just">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Automated Wound Assessment</a:t>
            </a:r>
            <a:r>
              <a:rPr lang="en-US" sz="1600" dirty="0">
                <a:latin typeface="Times New Roman" panose="02020603050405020304" pitchFamily="18" charset="0"/>
                <a:cs typeface="Times New Roman" panose="02020603050405020304" pitchFamily="18" charset="0"/>
              </a:rPr>
              <a:t>: The system utilizes artificial intelligence, particularly computer vision and machine learning, to automatically detect and evaluate wound characteristics. This helps diagnose wound severity and track progression objectively, reducing dependence on human expertise.</a:t>
            </a: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Remote Monitoring</a:t>
            </a:r>
            <a:r>
              <a:rPr lang="en-US" sz="1600" dirty="0">
                <a:latin typeface="Times New Roman" panose="02020603050405020304" pitchFamily="18" charset="0"/>
                <a:cs typeface="Times New Roman" panose="02020603050405020304" pitchFamily="18" charset="0"/>
              </a:rPr>
              <a:t>: Patients can regularly upload images or sensor data from home, enabling automated and clinician-supervised tracking without frequent hospital visits. Telemedicine integration allows healthcare providers to intervene quickly in case of potential complications or non-healing wounds.</a:t>
            </a: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Personalized Treatment Guidance</a:t>
            </a:r>
            <a:r>
              <a:rPr lang="en-US" sz="1600" dirty="0">
                <a:latin typeface="Times New Roman" panose="02020603050405020304" pitchFamily="18" charset="0"/>
                <a:cs typeface="Times New Roman" panose="02020603050405020304" pitchFamily="18" charset="0"/>
              </a:rPr>
              <a:t>: Based on wound type, size, stage, and patient’s individual health data, the system offers tailored care recommendations (e.g. dressing changes, offloading advice, hygiene instructions, alerts for infection risk). AI can assist with dynamic treatment plan adjustments as healing progresses.</a:t>
            </a: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Data-Driven Alerts </a:t>
            </a:r>
            <a:r>
              <a:rPr lang="en-US" sz="1600" dirty="0">
                <a:latin typeface="Times New Roman" panose="02020603050405020304" pitchFamily="18" charset="0"/>
                <a:cs typeface="Times New Roman" panose="02020603050405020304" pitchFamily="18" charset="0"/>
              </a:rPr>
              <a:t>: Patients are provided with alerts if their wound condition worsens or if compliance drops. The system includes educational modules to empower patients with knowledge for proper wound care and risk reduction.</a:t>
            </a:r>
            <a:endParaRPr lang="en-US" sz="1600" dirty="0">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80999B1E-9774-4338-A494-7EE81CDA6832}" type="slidenum">
              <a:rPr lang="en-IN" smtClean="0"/>
            </a:fld>
            <a:endParaRPr lang="en-IN" dirty="0"/>
          </a:p>
        </p:txBody>
      </p:sp>
      <p:pic>
        <p:nvPicPr>
          <p:cNvPr id="9" name="Picture 2" descr="C:\Users\ENGG_CSE_HOD\Desktop\new logo (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63944" y="0"/>
            <a:ext cx="1080056" cy="8880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35560" y="0"/>
            <a:ext cx="910844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endParaRPr lang="en-IN" sz="4800" dirty="0">
              <a:solidFill>
                <a:schemeClr val="bg1"/>
              </a:solidFill>
              <a:latin typeface="AmericanText BT" panose="03040702020708020505" pitchFamily="66" charset="0"/>
              <a:cs typeface="Times New Roman" panose="02020603050405020304" pitchFamily="18" charset="0"/>
            </a:endParaRPr>
          </a:p>
        </p:txBody>
      </p:sp>
      <p:sp>
        <p:nvSpPr>
          <p:cNvPr id="2" name="Title 1"/>
          <p:cNvSpPr>
            <a:spLocks noGrp="1"/>
          </p:cNvSpPr>
          <p:nvPr>
            <p:ph type="title"/>
          </p:nvPr>
        </p:nvSpPr>
        <p:spPr>
          <a:xfrm>
            <a:off x="0" y="-27305"/>
            <a:ext cx="8229600" cy="857250"/>
          </a:xfrm>
        </p:spPr>
        <p:txBody>
          <a:bodyPr>
            <a:normAutofit/>
          </a:bodyPr>
          <a:lstStyle/>
          <a:p>
            <a:r>
              <a:rPr lang="en-US" sz="2400" b="1" dirty="0">
                <a:solidFill>
                  <a:schemeClr val="bg1"/>
                </a:solidFill>
                <a:latin typeface="Times New Roman" panose="02020603050405020304" pitchFamily="18" charset="0"/>
                <a:cs typeface="Times New Roman" panose="02020603050405020304" pitchFamily="18" charset="0"/>
              </a:rPr>
              <a:t>PROPOSED SYSTEM</a:t>
            </a:r>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429596" y="921948"/>
            <a:ext cx="8390875" cy="3845316"/>
          </a:xfrm>
        </p:spPr>
        <p:txBody>
          <a:bodyPr>
            <a:noAutofit/>
          </a:bodyPr>
          <a:lstStyle/>
          <a:p>
            <a:pPr marL="0" indent="0" algn="just">
              <a:buNone/>
            </a:pPr>
            <a:r>
              <a:rPr lang="en-US" sz="1600" dirty="0">
                <a:solidFill>
                  <a:srgbClr val="002060"/>
                </a:solidFill>
                <a:latin typeface="Times New Roman" panose="02020603050405020304" pitchFamily="18" charset="0"/>
                <a:cs typeface="Times New Roman" panose="02020603050405020304" pitchFamily="18" charset="0"/>
              </a:rPr>
              <a:t>PROPOSED SYSTEM</a:t>
            </a:r>
            <a:endParaRPr lang="en-US" sz="1600" dirty="0">
              <a:solidFill>
                <a:srgbClr val="002060"/>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proposed smart bandage system represents the next generation in wound care — a fully integrated, real-time, intelligent wound management platform.</a:t>
            </a:r>
            <a:endParaRPr lang="en-US" sz="1600" dirty="0">
              <a:latin typeface="Times New Roman" panose="02020603050405020304" pitchFamily="18" charset="0"/>
              <a:cs typeface="Times New Roman" panose="02020603050405020304" pitchFamily="18" charset="0"/>
            </a:endParaRPr>
          </a:p>
          <a:p>
            <a:pPr marL="0" indent="0" algn="just">
              <a:buNone/>
            </a:pPr>
            <a:endParaRPr lang="en-US" sz="1400" dirty="0">
              <a:latin typeface="Times New Roman" panose="02020603050405020304" pitchFamily="18" charset="0"/>
              <a:cs typeface="Times New Roman" panose="02020603050405020304" pitchFamily="18" charset="0"/>
            </a:endParaRPr>
          </a:p>
          <a:p>
            <a:pPr marL="0" indent="0" algn="just">
              <a:buNone/>
            </a:pPr>
            <a:r>
              <a:rPr lang="en-US" sz="1600" b="1" dirty="0">
                <a:latin typeface="Times New Roman" panose="02020603050405020304" pitchFamily="18" charset="0"/>
                <a:cs typeface="Times New Roman" panose="02020603050405020304" pitchFamily="18" charset="0"/>
              </a:rPr>
              <a:t>Components of the Proposed System</a:t>
            </a:r>
            <a:endParaRPr lang="en-US" sz="1600" b="1"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Flexible, biocompatible substrate</a:t>
            </a:r>
            <a:r>
              <a:rPr lang="en-US" sz="1600" dirty="0">
                <a:latin typeface="Times New Roman" panose="02020603050405020304" pitchFamily="18" charset="0"/>
                <a:cs typeface="Times New Roman" panose="02020603050405020304" pitchFamily="18" charset="0"/>
              </a:rPr>
              <a:t>: Soft, stretchable materials that conform to the skin and degrade safely over time. </a:t>
            </a:r>
            <a:endParaRPr lang="en-US" sz="1600" dirty="0">
              <a:latin typeface="Times New Roman" panose="02020603050405020304" pitchFamily="18" charset="0"/>
              <a:cs typeface="Times New Roman" panose="02020603050405020304" pitchFamily="18" charset="0"/>
            </a:endParaRPr>
          </a:p>
          <a:p>
            <a:pPr marL="0" indent="0" algn="just">
              <a:buNone/>
            </a:pPr>
            <a:r>
              <a:rPr lang="en-US" sz="1600" b="1" dirty="0">
                <a:latin typeface="Times New Roman" panose="02020603050405020304" pitchFamily="18" charset="0"/>
                <a:cs typeface="Times New Roman" panose="02020603050405020304" pitchFamily="18" charset="0"/>
              </a:rPr>
              <a:t>Multi-functional sensors</a:t>
            </a:r>
            <a:r>
              <a:rPr lang="en-US" sz="1600" dirty="0">
                <a:latin typeface="Times New Roman" panose="02020603050405020304" pitchFamily="18" charset="0"/>
                <a:cs typeface="Times New Roman" panose="02020603050405020304" pitchFamily="18" charset="0"/>
              </a:rPr>
              <a:t>: Embedded to monitor:</a:t>
            </a:r>
            <a:endParaRPr lang="en-US" sz="1600"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pH (infection indicator)</a:t>
            </a:r>
            <a:endParaRPr lang="en-US" sz="1600"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Temperature (inflammation marker)</a:t>
            </a:r>
            <a:endParaRPr lang="en-US" sz="1600"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Moisture levels (hydration status)</a:t>
            </a:r>
            <a:endParaRPr lang="en-US" sz="1600"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Glucose levels (for diabetic management)</a:t>
            </a: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80999B1E-9774-4338-A494-7EE81CDA6832}" type="slidenum">
              <a:rPr lang="en-IN" smtClean="0"/>
            </a:fld>
            <a:endParaRPr lang="en-IN" dirty="0"/>
          </a:p>
        </p:txBody>
      </p:sp>
      <p:pic>
        <p:nvPicPr>
          <p:cNvPr id="9" name="Picture 2" descr="C:\Users\ENGG_CSE_HOD\Desktop\new logo (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63944" y="-29051"/>
            <a:ext cx="1080056" cy="8880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35560" y="0"/>
            <a:ext cx="910844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endParaRPr lang="en-IN" sz="4800" dirty="0">
              <a:solidFill>
                <a:schemeClr val="bg1"/>
              </a:solidFill>
              <a:latin typeface="AmericanText BT" panose="03040702020708020505" pitchFamily="66" charset="0"/>
              <a:cs typeface="Times New Roman" panose="02020603050405020304" pitchFamily="18" charset="0"/>
            </a:endParaRPr>
          </a:p>
        </p:txBody>
      </p:sp>
      <p:sp>
        <p:nvSpPr>
          <p:cNvPr id="2" name="Title 1"/>
          <p:cNvSpPr>
            <a:spLocks noGrp="1"/>
          </p:cNvSpPr>
          <p:nvPr>
            <p:ph type="title"/>
          </p:nvPr>
        </p:nvSpPr>
        <p:spPr>
          <a:xfrm>
            <a:off x="0" y="-27305"/>
            <a:ext cx="8229600" cy="857250"/>
          </a:xfrm>
        </p:spPr>
        <p:txBody>
          <a:bodyPr>
            <a:normAutofit/>
          </a:bodyPr>
          <a:lstStyle/>
          <a:p>
            <a:r>
              <a:rPr lang="en-US" sz="2400" b="1" dirty="0">
                <a:solidFill>
                  <a:schemeClr val="bg1"/>
                </a:solidFill>
                <a:latin typeface="Times New Roman" panose="02020603050405020304" pitchFamily="18" charset="0"/>
                <a:cs typeface="Times New Roman" panose="02020603050405020304" pitchFamily="18" charset="0"/>
              </a:rPr>
              <a:t>PROPOSED SYSTEM</a:t>
            </a:r>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438101" y="754270"/>
            <a:ext cx="8219256" cy="4020834"/>
          </a:xfrm>
        </p:spPr>
        <p:txBody>
          <a:bodyPr>
            <a:noAutofit/>
          </a:bodyPr>
          <a:lstStyle/>
          <a:p>
            <a:pPr marL="742950" lvl="1"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0" indent="0">
              <a:lnSpc>
                <a:spcPct val="150000"/>
              </a:lnSpc>
              <a:buNone/>
            </a:pPr>
            <a:r>
              <a:rPr lang="en-US" sz="1600" b="1" dirty="0">
                <a:latin typeface="Times New Roman" panose="02020603050405020304" pitchFamily="18" charset="0"/>
                <a:cs typeface="Times New Roman" panose="02020603050405020304" pitchFamily="18" charset="0"/>
              </a:rPr>
              <a:t>Microcontroller &amp; wireless communication module</a:t>
            </a:r>
            <a:r>
              <a:rPr lang="en-US" sz="1600" dirty="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Transmits data to healthcare apps or cloud platforms.</a:t>
            </a:r>
            <a:endParaRPr lang="en-US" sz="16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Supports real-time alerts and telemedicine integration.</a:t>
            </a:r>
            <a:endParaRPr lang="en-US" sz="1600" dirty="0">
              <a:latin typeface="Times New Roman" panose="02020603050405020304" pitchFamily="18" charset="0"/>
              <a:cs typeface="Times New Roman" panose="02020603050405020304" pitchFamily="18" charset="0"/>
            </a:endParaRPr>
          </a:p>
          <a:p>
            <a:pPr>
              <a:lnSpc>
                <a:spcPct val="150000"/>
              </a:lnSpc>
              <a:buNone/>
            </a:pPr>
            <a:r>
              <a:rPr lang="en-US" sz="1600" b="1" dirty="0">
                <a:latin typeface="Times New Roman" panose="02020603050405020304" pitchFamily="18" charset="0"/>
                <a:cs typeface="Times New Roman" panose="02020603050405020304" pitchFamily="18" charset="0"/>
              </a:rPr>
              <a:t>Benefits for Diabetic Patients</a:t>
            </a:r>
            <a:endParaRPr lang="en-US" sz="1600" b="1"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Improved healing rates through personalized care</a:t>
            </a:r>
            <a:endParaRPr lang="en-US" sz="16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Reduced hospitalizations due to early intervention.</a:t>
            </a:r>
            <a:endParaRPr lang="en-US" sz="16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Enhanced quality of life via reduced pain, discomfort, and stress.</a:t>
            </a:r>
            <a:endParaRPr lang="en-US" sz="16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Prevention of amputations and other severe complications.</a:t>
            </a:r>
            <a:endParaRPr lang="en-US" sz="1600" dirty="0">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80999B1E-9774-4338-A494-7EE81CDA6832}" type="slidenum">
              <a:rPr lang="en-IN" smtClean="0"/>
            </a:fld>
            <a:endParaRPr lang="en-IN" dirty="0"/>
          </a:p>
        </p:txBody>
      </p:sp>
      <p:pic>
        <p:nvPicPr>
          <p:cNvPr id="9" name="Picture 2" descr="C:\Users\ENGG_CSE_HOD\Desktop\new logo (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63944" y="0"/>
            <a:ext cx="1080056" cy="8880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35560" y="0"/>
            <a:ext cx="910844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endParaRPr lang="en-IN" sz="4800" dirty="0">
              <a:solidFill>
                <a:schemeClr val="bg1"/>
              </a:solidFill>
              <a:latin typeface="AmericanText BT" panose="03040702020708020505" pitchFamily="66" charset="0"/>
              <a:cs typeface="Times New Roman" panose="02020603050405020304" pitchFamily="18" charset="0"/>
            </a:endParaRPr>
          </a:p>
        </p:txBody>
      </p:sp>
      <p:sp>
        <p:nvSpPr>
          <p:cNvPr id="2" name="Title 1"/>
          <p:cNvSpPr>
            <a:spLocks noGrp="1"/>
          </p:cNvSpPr>
          <p:nvPr>
            <p:ph type="title"/>
          </p:nvPr>
        </p:nvSpPr>
        <p:spPr>
          <a:xfrm>
            <a:off x="0" y="-27305"/>
            <a:ext cx="8229600" cy="857250"/>
          </a:xfrm>
        </p:spPr>
        <p:txBody>
          <a:bodyPr>
            <a:normAutofit/>
          </a:bodyPr>
          <a:lstStyle/>
          <a:p>
            <a:r>
              <a:rPr lang="en-US" sz="2400" b="1" dirty="0">
                <a:solidFill>
                  <a:schemeClr val="bg1"/>
                </a:solidFill>
                <a:latin typeface="Times New Roman" panose="02020603050405020304" pitchFamily="18" charset="0"/>
                <a:cs typeface="Times New Roman" panose="02020603050405020304" pitchFamily="18" charset="0"/>
              </a:rPr>
              <a:t>PROGRESS</a:t>
            </a:r>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448084" y="915351"/>
            <a:ext cx="8219256" cy="3384376"/>
          </a:xfrm>
        </p:spPr>
        <p:txBody>
          <a:bodyPr>
            <a:noAutofit/>
          </a:bodyPr>
          <a:lstStyle/>
          <a:p>
            <a:pPr marL="0" indent="0" algn="just">
              <a:lnSpc>
                <a:spcPct val="150000"/>
              </a:lnSpc>
              <a:buNone/>
            </a:pPr>
            <a:r>
              <a:rPr lang="en-IN" sz="1600" dirty="0">
                <a:solidFill>
                  <a:srgbClr val="0070C0"/>
                </a:solidFill>
                <a:latin typeface="Times New Roman" panose="02020603050405020304" pitchFamily="18" charset="0"/>
                <a:cs typeface="Times New Roman" panose="02020603050405020304" pitchFamily="18" charset="0"/>
              </a:rPr>
              <a:t>PROGRESS IN THE PHASE</a:t>
            </a:r>
            <a:endParaRPr lang="en-IN" sz="1600" dirty="0">
              <a:solidFill>
                <a:srgbClr val="0070C0"/>
              </a:solidFill>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System Architecture and Prototype</a:t>
            </a:r>
            <a:r>
              <a:rPr lang="en-US" sz="1600" dirty="0">
                <a:latin typeface="Times New Roman" panose="02020603050405020304" pitchFamily="18" charset="0"/>
                <a:cs typeface="Times New Roman" panose="02020603050405020304" pitchFamily="18" charset="0"/>
              </a:rPr>
              <a:t>s.</a:t>
            </a: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Data Collection and Annotation</a:t>
            </a:r>
            <a:endParaRPr lang="en-IN"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Algorithm Development</a:t>
            </a:r>
            <a:endParaRPr lang="en-IN"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System Validation</a:t>
            </a:r>
            <a:endParaRPr lang="en-IN"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Support Modules</a:t>
            </a:r>
            <a:endParaRPr lang="en-IN"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Documentation</a:t>
            </a:r>
            <a:endParaRPr lang="en-IN" sz="1600"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 dirty="0">
                <a:latin typeface="Times New Roman" panose="02020603050405020304" pitchFamily="18" charset="0"/>
                <a:cs typeface="Times New Roman" panose="02020603050405020304" pitchFamily="18" charset="0"/>
              </a:rPr>
              <a:t>Including these items will show comprehensive progress in technical development, user engagement, and practical validation, providing a strong foundation for Phase III and final deployment.</a:t>
            </a:r>
            <a:endParaRPr lang="en-US" sz="1600" dirty="0">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80999B1E-9774-4338-A494-7EE81CDA6832}" type="slidenum">
              <a:rPr lang="en-IN" smtClean="0"/>
            </a:fld>
            <a:endParaRPr lang="en-IN" dirty="0"/>
          </a:p>
        </p:txBody>
      </p:sp>
      <p:pic>
        <p:nvPicPr>
          <p:cNvPr id="9" name="Picture 2" descr="C:\Users\ENGG_CSE_HOD\Desktop\new logo (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63944" y="0"/>
            <a:ext cx="1080056" cy="8880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35560" y="0"/>
            <a:ext cx="910844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endParaRPr lang="en-IN" sz="4800" dirty="0">
              <a:solidFill>
                <a:schemeClr val="bg1"/>
              </a:solidFill>
              <a:latin typeface="AmericanText BT" panose="03040702020708020505" pitchFamily="66" charset="0"/>
              <a:cs typeface="Times New Roman" panose="02020603050405020304" pitchFamily="18" charset="0"/>
            </a:endParaRPr>
          </a:p>
        </p:txBody>
      </p:sp>
      <p:sp>
        <p:nvSpPr>
          <p:cNvPr id="2" name="Title 1"/>
          <p:cNvSpPr>
            <a:spLocks noGrp="1"/>
          </p:cNvSpPr>
          <p:nvPr>
            <p:ph type="title"/>
          </p:nvPr>
        </p:nvSpPr>
        <p:spPr>
          <a:xfrm>
            <a:off x="0" y="-27305"/>
            <a:ext cx="8229600" cy="857250"/>
          </a:xfrm>
        </p:spPr>
        <p:txBody>
          <a:bodyPr>
            <a:normAutofit/>
          </a:bodyPr>
          <a:lstStyle/>
          <a:p>
            <a:r>
              <a:rPr lang="en-US" sz="2400" b="1" dirty="0">
                <a:solidFill>
                  <a:schemeClr val="bg1"/>
                </a:solidFill>
                <a:latin typeface="Times New Roman" panose="02020603050405020304" pitchFamily="18" charset="0"/>
                <a:cs typeface="Times New Roman" panose="02020603050405020304" pitchFamily="18" charset="0"/>
              </a:rPr>
              <a:t>CORE MODULES</a:t>
            </a:r>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448084" y="915350"/>
            <a:ext cx="8219256" cy="3744631"/>
          </a:xfrm>
        </p:spPr>
        <p:txBody>
          <a:bodyPr>
            <a:noAutofit/>
          </a:bodyPr>
          <a:lstStyle/>
          <a:p>
            <a:pPr marL="0" indent="0" algn="just">
              <a:buNone/>
            </a:pPr>
            <a:r>
              <a:rPr lang="en-US" sz="1600" dirty="0">
                <a:solidFill>
                  <a:srgbClr val="0070C0"/>
                </a:solidFill>
                <a:latin typeface="Times New Roman" panose="02020603050405020304" pitchFamily="18" charset="0"/>
                <a:cs typeface="Times New Roman" panose="02020603050405020304" pitchFamily="18" charset="0"/>
              </a:rPr>
              <a:t>CORE MODULES</a:t>
            </a:r>
            <a:endParaRPr lang="en-US" sz="1600" dirty="0">
              <a:solidFill>
                <a:srgbClr val="0070C0"/>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Wound Imaging and Data Acquisition Module</a:t>
            </a:r>
            <a:endParaRPr lang="en-US" sz="1600" b="1" dirty="0">
              <a:latin typeface="Times New Roman" panose="02020603050405020304" pitchFamily="18" charset="0"/>
              <a:cs typeface="Times New Roman" panose="02020603050405020304" pitchFamily="18" charset="0"/>
            </a:endParaRPr>
          </a:p>
          <a:p>
            <a:pPr marL="0" indent="0" algn="just">
              <a:buNone/>
            </a:pPr>
            <a:r>
              <a:rPr lang="en-US" sz="1600" dirty="0">
                <a:latin typeface="Times New Roman" panose="02020603050405020304" pitchFamily="18" charset="0"/>
                <a:cs typeface="Times New Roman" panose="02020603050405020304" pitchFamily="18" charset="0"/>
              </a:rPr>
              <a:t>Tools to capture wound images (using mobile or web devices), record vital signs, and accept sensor data relevant to wound health and healing progress.</a:t>
            </a: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AI-Based Wound Analysis Module</a:t>
            </a:r>
            <a:endParaRPr lang="en-US" sz="1600" b="1" dirty="0">
              <a:latin typeface="Times New Roman" panose="02020603050405020304" pitchFamily="18" charset="0"/>
              <a:cs typeface="Times New Roman" panose="02020603050405020304" pitchFamily="18" charset="0"/>
            </a:endParaRPr>
          </a:p>
          <a:p>
            <a:pPr marL="0" indent="0" algn="just">
              <a:buNone/>
            </a:pPr>
            <a:r>
              <a:rPr lang="en-US" sz="1600" dirty="0">
                <a:latin typeface="Times New Roman" panose="02020603050405020304" pitchFamily="18" charset="0"/>
                <a:cs typeface="Times New Roman" panose="02020603050405020304" pitchFamily="18" charset="0"/>
              </a:rPr>
              <a:t>Deep learning algorithms for automated wound segmentation, classification (infection, ischemia, healing stage), and measurement of wound size, tissue composition, and color changes.</a:t>
            </a: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Remote Monitoring and Progress Tracking Module</a:t>
            </a:r>
            <a:endParaRPr lang="en-US" sz="1600" b="1" dirty="0">
              <a:latin typeface="Times New Roman" panose="02020603050405020304" pitchFamily="18" charset="0"/>
              <a:cs typeface="Times New Roman" panose="02020603050405020304" pitchFamily="18" charset="0"/>
            </a:endParaRPr>
          </a:p>
          <a:p>
            <a:pPr marL="0" indent="0" algn="just">
              <a:buNone/>
            </a:pPr>
            <a:r>
              <a:rPr lang="en-US" sz="1600" dirty="0">
                <a:latin typeface="Times New Roman" panose="02020603050405020304" pitchFamily="18" charset="0"/>
                <a:cs typeface="Times New Roman" panose="02020603050405020304" pitchFamily="18" charset="0"/>
              </a:rPr>
              <a:t>Periodic uploads of wound data/images, comparison with baseline and previous records, generation of progress charts, and detection of deviations or delayed healing.</a:t>
            </a: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Alert and Risk Prediction Module</a:t>
            </a:r>
            <a:endParaRPr lang="en-US" sz="1600" b="1" dirty="0">
              <a:latin typeface="Times New Roman" panose="02020603050405020304" pitchFamily="18" charset="0"/>
              <a:cs typeface="Times New Roman" panose="02020603050405020304" pitchFamily="18" charset="0"/>
            </a:endParaRPr>
          </a:p>
          <a:p>
            <a:pPr marL="0" indent="0" algn="just">
              <a:buNone/>
            </a:pPr>
            <a:r>
              <a:rPr lang="en-US" sz="1600" dirty="0">
                <a:latin typeface="Times New Roman" panose="02020603050405020304" pitchFamily="18" charset="0"/>
                <a:cs typeface="Times New Roman" panose="02020603050405020304" pitchFamily="18" charset="0"/>
              </a:rPr>
              <a:t>Intelligent notification system for patients and clinicians in case of infection risk, worsening wound, or non-healing concerns, supported by predictive analytics.</a:t>
            </a: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80999B1E-9774-4338-A494-7EE81CDA6832}" type="slidenum">
              <a:rPr lang="en-IN" smtClean="0"/>
            </a:fld>
            <a:endParaRPr lang="en-IN" dirty="0"/>
          </a:p>
        </p:txBody>
      </p:sp>
      <p:pic>
        <p:nvPicPr>
          <p:cNvPr id="9" name="Picture 2" descr="C:\Users\ENGG_CSE_HOD\Desktop\new logo (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63944" y="0"/>
            <a:ext cx="1080056" cy="8880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35560" y="0"/>
            <a:ext cx="910844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endParaRPr lang="en-IN" sz="4800" dirty="0">
              <a:solidFill>
                <a:schemeClr val="bg1"/>
              </a:solidFill>
              <a:latin typeface="AmericanText BT" panose="03040702020708020505" pitchFamily="66" charset="0"/>
              <a:cs typeface="Times New Roman" panose="02020603050405020304" pitchFamily="18" charset="0"/>
            </a:endParaRPr>
          </a:p>
        </p:txBody>
      </p:sp>
      <p:sp>
        <p:nvSpPr>
          <p:cNvPr id="2" name="Title 1"/>
          <p:cNvSpPr>
            <a:spLocks noGrp="1"/>
          </p:cNvSpPr>
          <p:nvPr>
            <p:ph type="title"/>
          </p:nvPr>
        </p:nvSpPr>
        <p:spPr>
          <a:xfrm>
            <a:off x="0" y="-27305"/>
            <a:ext cx="8229600" cy="857250"/>
          </a:xfrm>
        </p:spPr>
        <p:txBody>
          <a:bodyPr>
            <a:normAutofit/>
          </a:bodyPr>
          <a:lstStyle/>
          <a:p>
            <a:r>
              <a:rPr lang="en-US" sz="2400" b="1" dirty="0">
                <a:solidFill>
                  <a:schemeClr val="bg1"/>
                </a:solidFill>
                <a:latin typeface="Times New Roman" panose="02020603050405020304" pitchFamily="18" charset="0"/>
                <a:cs typeface="Times New Roman" panose="02020603050405020304" pitchFamily="18" charset="0"/>
              </a:rPr>
              <a:t>CORE MODULES</a:t>
            </a:r>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448084" y="915350"/>
            <a:ext cx="8219256" cy="3744631"/>
          </a:xfrm>
        </p:spPr>
        <p:txBody>
          <a:bodyPr>
            <a:noAutofit/>
          </a:bodyPr>
          <a:lstStyle/>
          <a:p>
            <a:pPr marL="0" indent="0" algn="just">
              <a:buNone/>
            </a:pPr>
            <a:r>
              <a:rPr lang="en-US" sz="1600" dirty="0">
                <a:solidFill>
                  <a:srgbClr val="0070C0"/>
                </a:solidFill>
                <a:latin typeface="Times New Roman" panose="02020603050405020304" pitchFamily="18" charset="0"/>
                <a:cs typeface="Times New Roman" panose="02020603050405020304" pitchFamily="18" charset="0"/>
              </a:rPr>
              <a:t>CORE MODULES</a:t>
            </a:r>
            <a:endParaRPr lang="en-US" sz="16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Treatment Recommendation and Compliance Module</a:t>
            </a:r>
            <a:endParaRPr lang="en-US" sz="1600" b="1" dirty="0">
              <a:latin typeface="Times New Roman" panose="02020603050405020304" pitchFamily="18" charset="0"/>
              <a:cs typeface="Times New Roman" panose="02020603050405020304" pitchFamily="18" charset="0"/>
            </a:endParaRPr>
          </a:p>
          <a:p>
            <a:pPr marL="0" indent="0">
              <a:buNone/>
            </a:pPr>
            <a:r>
              <a:rPr lang="en-US" sz="1600" dirty="0">
                <a:latin typeface="Times New Roman" panose="02020603050405020304" pitchFamily="18" charset="0"/>
                <a:cs typeface="Times New Roman" panose="02020603050405020304" pitchFamily="18" charset="0"/>
              </a:rPr>
              <a:t>Delivery of dynamic, personalized treatment protocols based on AI analysis, reminders for wound dressing changes, medication schedules, and patient adherence tracking.</a:t>
            </a: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Reporting and Analytics Module</a:t>
            </a:r>
            <a:endParaRPr lang="en-US" sz="1600" b="1" dirty="0">
              <a:latin typeface="Times New Roman" panose="02020603050405020304" pitchFamily="18" charset="0"/>
              <a:cs typeface="Times New Roman" panose="02020603050405020304" pitchFamily="18" charset="0"/>
            </a:endParaRPr>
          </a:p>
          <a:p>
            <a:pPr marL="0" indent="0">
              <a:buNone/>
            </a:pPr>
            <a:r>
              <a:rPr lang="en-US" sz="1600" dirty="0">
                <a:latin typeface="Times New Roman" panose="02020603050405020304" pitchFamily="18" charset="0"/>
                <a:cs typeface="Times New Roman" panose="02020603050405020304" pitchFamily="18" charset="0"/>
              </a:rPr>
              <a:t>Generation of clinical reports, statistical analyses of population healing outcomes, and export functionality for further medical review and quality assurance.</a:t>
            </a: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80999B1E-9774-4338-A494-7EE81CDA6832}" type="slidenum">
              <a:rPr lang="en-IN" smtClean="0"/>
            </a:fld>
            <a:endParaRPr lang="en-IN" dirty="0"/>
          </a:p>
        </p:txBody>
      </p:sp>
      <p:pic>
        <p:nvPicPr>
          <p:cNvPr id="9" name="Picture 2" descr="C:\Users\ENGG_CSE_HOD\Desktop\new logo (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63944" y="0"/>
            <a:ext cx="1080056" cy="8880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35560" y="0"/>
            <a:ext cx="910844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endParaRPr lang="en-IN" sz="4800" dirty="0">
              <a:solidFill>
                <a:schemeClr val="bg1"/>
              </a:solidFill>
              <a:latin typeface="AmericanText BT" panose="03040702020708020505" pitchFamily="66" charset="0"/>
              <a:cs typeface="Times New Roman" panose="02020603050405020304" pitchFamily="18" charset="0"/>
            </a:endParaRPr>
          </a:p>
        </p:txBody>
      </p:sp>
      <p:sp>
        <p:nvSpPr>
          <p:cNvPr id="2" name="Title 1"/>
          <p:cNvSpPr>
            <a:spLocks noGrp="1"/>
          </p:cNvSpPr>
          <p:nvPr>
            <p:ph type="title"/>
          </p:nvPr>
        </p:nvSpPr>
        <p:spPr>
          <a:xfrm>
            <a:off x="0" y="-27305"/>
            <a:ext cx="8229600" cy="857250"/>
          </a:xfrm>
        </p:spPr>
        <p:txBody>
          <a:bodyPr>
            <a:normAutofit/>
          </a:bodyPr>
          <a:lstStyle/>
          <a:p>
            <a:r>
              <a:rPr lang="en-US" sz="2400" b="1" dirty="0">
                <a:solidFill>
                  <a:schemeClr val="bg1"/>
                </a:solidFill>
                <a:latin typeface="Times New Roman" panose="02020603050405020304" pitchFamily="18" charset="0"/>
                <a:cs typeface="Times New Roman" panose="02020603050405020304" pitchFamily="18" charset="0"/>
              </a:rPr>
              <a:t>SYSTEM REQUIREMENTS</a:t>
            </a:r>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384716" y="972849"/>
            <a:ext cx="8219256" cy="3837791"/>
          </a:xfrm>
        </p:spPr>
        <p:txBody>
          <a:bodyPr>
            <a:noAutofit/>
          </a:bodyPr>
          <a:lstStyle/>
          <a:p>
            <a:pPr>
              <a:buNone/>
            </a:pPr>
            <a:r>
              <a:rPr lang="en-IN" sz="1600" b="1" dirty="0">
                <a:solidFill>
                  <a:srgbClr val="002060"/>
                </a:solidFill>
                <a:latin typeface="Times New Roman" panose="02020603050405020304" pitchFamily="18" charset="0"/>
                <a:cs typeface="Times New Roman" panose="02020603050405020304" pitchFamily="18" charset="0"/>
              </a:rPr>
              <a:t>1. HARDWARE REQUIREMENTS</a:t>
            </a:r>
            <a:endParaRPr lang="en-IN" sz="1600" b="1" dirty="0">
              <a:solidFill>
                <a:srgbClr val="002060"/>
              </a:solidFill>
              <a:latin typeface="Times New Roman" panose="02020603050405020304" pitchFamily="18" charset="0"/>
              <a:cs typeface="Times New Roman" panose="02020603050405020304" pitchFamily="18" charset="0"/>
            </a:endParaRPr>
          </a:p>
          <a:p>
            <a:pPr>
              <a:buNone/>
            </a:pPr>
            <a:r>
              <a:rPr lang="en-IN" sz="1600" b="1" dirty="0">
                <a:latin typeface="Times New Roman" panose="02020603050405020304" pitchFamily="18" charset="0"/>
                <a:cs typeface="Times New Roman" panose="02020603050405020304" pitchFamily="18" charset="0"/>
              </a:rPr>
              <a:t>a. Sensors</a:t>
            </a:r>
            <a:endParaRPr lang="en-IN" sz="16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pH Sensor</a:t>
            </a:r>
            <a:r>
              <a:rPr lang="en-IN" sz="1600" dirty="0">
                <a:latin typeface="Times New Roman" panose="02020603050405020304" pitchFamily="18" charset="0"/>
                <a:cs typeface="Times New Roman" panose="02020603050405020304" pitchFamily="18" charset="0"/>
              </a:rPr>
              <a:t>: Detects infection or bacterial activity.</a:t>
            </a:r>
            <a:endParaRPr lang="en-IN"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Temperature Sensor</a:t>
            </a:r>
            <a:r>
              <a:rPr lang="en-IN" sz="1600" dirty="0">
                <a:latin typeface="Times New Roman" panose="02020603050405020304" pitchFamily="18" charset="0"/>
                <a:cs typeface="Times New Roman" panose="02020603050405020304" pitchFamily="18" charset="0"/>
              </a:rPr>
              <a:t>: Monitors inflammation and infection risk.</a:t>
            </a:r>
            <a:endParaRPr lang="en-IN"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Moisture Sensor</a:t>
            </a:r>
            <a:r>
              <a:rPr lang="en-IN" sz="1600" dirty="0">
                <a:latin typeface="Times New Roman" panose="02020603050405020304" pitchFamily="18" charset="0"/>
                <a:cs typeface="Times New Roman" panose="02020603050405020304" pitchFamily="18" charset="0"/>
              </a:rPr>
              <a:t>: Tracks hydration levels of the wound bed.</a:t>
            </a:r>
            <a:endParaRPr lang="en-IN"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Glucose Sensor</a:t>
            </a:r>
            <a:r>
              <a:rPr lang="en-IN" sz="1600" dirty="0">
                <a:latin typeface="Times New Roman" panose="02020603050405020304" pitchFamily="18" charset="0"/>
                <a:cs typeface="Times New Roman" panose="02020603050405020304" pitchFamily="18" charset="0"/>
              </a:rPr>
              <a:t>: For monitoring local glucose levels in diabetic patients.</a:t>
            </a:r>
            <a:endParaRPr lang="en-IN" sz="1600" dirty="0">
              <a:latin typeface="Times New Roman" panose="02020603050405020304" pitchFamily="18" charset="0"/>
              <a:cs typeface="Times New Roman" panose="02020603050405020304" pitchFamily="18" charset="0"/>
            </a:endParaRPr>
          </a:p>
          <a:p>
            <a:pPr marL="0" indent="0">
              <a:buNone/>
            </a:pPr>
            <a:r>
              <a:rPr lang="en-IN" sz="1600" b="1" dirty="0">
                <a:latin typeface="Times New Roman" panose="02020603050405020304" pitchFamily="18" charset="0"/>
                <a:cs typeface="Times New Roman" panose="02020603050405020304" pitchFamily="18" charset="0"/>
              </a:rPr>
              <a:t>b. Microcontroller Unit (MCU)</a:t>
            </a:r>
            <a:endParaRPr lang="en-IN" sz="16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Low-power processor to control sensors and data processing.</a:t>
            </a:r>
            <a:endParaRPr lang="en-IN" sz="1600" dirty="0">
              <a:latin typeface="Times New Roman" panose="02020603050405020304" pitchFamily="18" charset="0"/>
              <a:cs typeface="Times New Roman" panose="02020603050405020304" pitchFamily="18" charset="0"/>
            </a:endParaRPr>
          </a:p>
          <a:p>
            <a:pPr marL="0" indent="0">
              <a:buNone/>
            </a:pPr>
            <a:r>
              <a:rPr lang="en-IN" sz="1600" b="1" dirty="0">
                <a:latin typeface="Times New Roman" panose="02020603050405020304" pitchFamily="18" charset="0"/>
                <a:cs typeface="Times New Roman" panose="02020603050405020304" pitchFamily="18" charset="0"/>
              </a:rPr>
              <a:t>c. Power Source</a:t>
            </a:r>
            <a:endParaRPr lang="en-IN" sz="16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Thin-film battery or bioenergy harvester (e.g., body heat or glucose-powered).</a:t>
            </a:r>
            <a:endParaRPr lang="en-IN" sz="1600" dirty="0">
              <a:latin typeface="Times New Roman" panose="02020603050405020304" pitchFamily="18" charset="0"/>
              <a:cs typeface="Times New Roman" panose="02020603050405020304" pitchFamily="18" charset="0"/>
            </a:endParaRPr>
          </a:p>
          <a:p>
            <a:pPr marL="0" indent="0">
              <a:buNone/>
            </a:pPr>
            <a:r>
              <a:rPr lang="en-IN" sz="1600" b="1" dirty="0">
                <a:latin typeface="Times New Roman" panose="02020603050405020304" pitchFamily="18" charset="0"/>
                <a:cs typeface="Times New Roman" panose="02020603050405020304" pitchFamily="18" charset="0"/>
              </a:rPr>
              <a:t>d. Wireless Communication Module</a:t>
            </a:r>
            <a:endParaRPr lang="en-IN" sz="16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Bluetooth Low Energy (BLE) or Wi-Fi for transmitting data to a mobile device or cloud server.</a:t>
            </a:r>
            <a:endParaRPr lang="en-IN"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80999B1E-9774-4338-A494-7EE81CDA6832}" type="slidenum">
              <a:rPr lang="en-IN" smtClean="0"/>
            </a:fld>
            <a:endParaRPr lang="en-IN" dirty="0"/>
          </a:p>
        </p:txBody>
      </p:sp>
      <p:pic>
        <p:nvPicPr>
          <p:cNvPr id="9" name="Picture 2" descr="C:\Users\ENGG_CSE_HOD\Desktop\new logo (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63944" y="-14725"/>
            <a:ext cx="1080056" cy="8880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35560" y="0"/>
            <a:ext cx="910844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endParaRPr lang="en-IN" sz="4800" dirty="0">
              <a:solidFill>
                <a:schemeClr val="bg1"/>
              </a:solidFill>
              <a:latin typeface="AmericanText BT" panose="03040702020708020505" pitchFamily="66" charset="0"/>
              <a:cs typeface="Times New Roman" panose="02020603050405020304" pitchFamily="18" charset="0"/>
            </a:endParaRPr>
          </a:p>
        </p:txBody>
      </p:sp>
      <p:sp>
        <p:nvSpPr>
          <p:cNvPr id="2" name="Title 1"/>
          <p:cNvSpPr>
            <a:spLocks noGrp="1"/>
          </p:cNvSpPr>
          <p:nvPr>
            <p:ph type="title"/>
          </p:nvPr>
        </p:nvSpPr>
        <p:spPr>
          <a:xfrm>
            <a:off x="0" y="-27305"/>
            <a:ext cx="8229600" cy="857250"/>
          </a:xfrm>
        </p:spPr>
        <p:txBody>
          <a:bodyPr>
            <a:normAutofit/>
          </a:bodyPr>
          <a:lstStyle/>
          <a:p>
            <a:r>
              <a:rPr lang="en-US" sz="2400" b="1" dirty="0">
                <a:solidFill>
                  <a:schemeClr val="bg1"/>
                </a:solidFill>
                <a:latin typeface="Times New Roman" panose="02020603050405020304" pitchFamily="18" charset="0"/>
                <a:cs typeface="Times New Roman" panose="02020603050405020304" pitchFamily="18" charset="0"/>
              </a:rPr>
              <a:t>SYSTEM REQUIREMENTS</a:t>
            </a:r>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373316" y="555526"/>
            <a:ext cx="8219256" cy="3837791"/>
          </a:xfrm>
        </p:spPr>
        <p:txBody>
          <a:bodyPr>
            <a:noAutofit/>
          </a:bodyPr>
          <a:lstStyle/>
          <a:p>
            <a:pPr marL="0" indent="0">
              <a:lnSpc>
                <a:spcPct val="150000"/>
              </a:lnSpc>
              <a:buNone/>
            </a:pPr>
            <a:endParaRPr lang="en-IN" sz="1600" dirty="0">
              <a:latin typeface="Times New Roman" panose="02020603050405020304" pitchFamily="18" charset="0"/>
              <a:cs typeface="Times New Roman" panose="02020603050405020304" pitchFamily="18" charset="0"/>
            </a:endParaRPr>
          </a:p>
          <a:p>
            <a:pPr marL="0" indent="0">
              <a:lnSpc>
                <a:spcPct val="150000"/>
              </a:lnSpc>
              <a:buNone/>
            </a:pPr>
            <a:r>
              <a:rPr lang="en-IN" sz="1600" b="1" dirty="0">
                <a:latin typeface="Times New Roman" panose="02020603050405020304" pitchFamily="18" charset="0"/>
                <a:cs typeface="Times New Roman" panose="02020603050405020304" pitchFamily="18" charset="0"/>
              </a:rPr>
              <a:t>e. Drug Delivery System (optional)</a:t>
            </a:r>
            <a:endParaRPr lang="en-IN" sz="1600" b="1"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Microfluidic components or hydrogel with embedded therapeutic agents.</a:t>
            </a:r>
            <a:endParaRPr lang="en-IN" sz="16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Electrically controlled release mechanisms.</a:t>
            </a:r>
            <a:endParaRPr lang="en-IN" sz="1600" dirty="0">
              <a:latin typeface="Times New Roman" panose="02020603050405020304" pitchFamily="18" charset="0"/>
              <a:cs typeface="Times New Roman" panose="02020603050405020304" pitchFamily="18" charset="0"/>
            </a:endParaRPr>
          </a:p>
          <a:p>
            <a:pPr marL="0" indent="0">
              <a:lnSpc>
                <a:spcPct val="150000"/>
              </a:lnSpc>
              <a:buNone/>
            </a:pPr>
            <a:r>
              <a:rPr lang="en-IN" sz="1600" b="1" dirty="0">
                <a:latin typeface="Times New Roman" panose="02020603050405020304" pitchFamily="18" charset="0"/>
                <a:cs typeface="Times New Roman" panose="02020603050405020304" pitchFamily="18" charset="0"/>
              </a:rPr>
              <a:t>f. Substrate Material</a:t>
            </a:r>
            <a:endParaRPr lang="en-IN" sz="1600" b="1"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Biocompatible, flexible, breathable, and stretchable material (e.g., hydrogel, silicone, or biodegradable polymers).</a:t>
            </a:r>
            <a:endParaRPr lang="en-IN" sz="1600" dirty="0">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80999B1E-9774-4338-A494-7EE81CDA6832}" type="slidenum">
              <a:rPr lang="en-IN" smtClean="0"/>
            </a:fld>
            <a:endParaRPr lang="en-IN" dirty="0"/>
          </a:p>
        </p:txBody>
      </p:sp>
      <p:pic>
        <p:nvPicPr>
          <p:cNvPr id="9" name="Picture 2" descr="C:\Users\ENGG_CSE_HOD\Desktop\new logo (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63944" y="-14725"/>
            <a:ext cx="1080056" cy="8880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35560" y="0"/>
            <a:ext cx="910844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endParaRPr lang="en-IN" sz="4800" dirty="0">
              <a:solidFill>
                <a:schemeClr val="bg1"/>
              </a:solidFill>
              <a:latin typeface="AmericanText BT" panose="03040702020708020505" pitchFamily="66" charset="0"/>
              <a:cs typeface="Times New Roman" panose="02020603050405020304" pitchFamily="18" charset="0"/>
            </a:endParaRPr>
          </a:p>
        </p:txBody>
      </p:sp>
      <p:sp>
        <p:nvSpPr>
          <p:cNvPr id="2" name="Title 1"/>
          <p:cNvSpPr>
            <a:spLocks noGrp="1"/>
          </p:cNvSpPr>
          <p:nvPr>
            <p:ph type="title"/>
          </p:nvPr>
        </p:nvSpPr>
        <p:spPr>
          <a:xfrm>
            <a:off x="0" y="-27305"/>
            <a:ext cx="8229600" cy="857250"/>
          </a:xfrm>
        </p:spPr>
        <p:txBody>
          <a:bodyPr>
            <a:normAutofit/>
          </a:bodyPr>
          <a:lstStyle/>
          <a:p>
            <a:r>
              <a:rPr lang="en-US" sz="2400" b="1" dirty="0">
                <a:solidFill>
                  <a:schemeClr val="bg1"/>
                </a:solidFill>
                <a:latin typeface="Times New Roman" panose="02020603050405020304" pitchFamily="18" charset="0"/>
                <a:cs typeface="Times New Roman" panose="02020603050405020304" pitchFamily="18" charset="0"/>
              </a:rPr>
              <a:t>SYSTEM REQUIREMENTS</a:t>
            </a:r>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323528" y="929473"/>
            <a:ext cx="8219256" cy="3837791"/>
          </a:xfrm>
        </p:spPr>
        <p:txBody>
          <a:bodyPr>
            <a:noAutofit/>
          </a:bodyPr>
          <a:lstStyle/>
          <a:p>
            <a:pPr marL="0" indent="0">
              <a:buNone/>
            </a:pPr>
            <a:r>
              <a:rPr lang="en-US" sz="1600" b="1" dirty="0">
                <a:solidFill>
                  <a:srgbClr val="002060"/>
                </a:solidFill>
                <a:latin typeface="Times New Roman" panose="02020603050405020304" pitchFamily="18" charset="0"/>
                <a:cs typeface="Times New Roman" panose="02020603050405020304" pitchFamily="18" charset="0"/>
              </a:rPr>
              <a:t>SOFTWARE REQUIREMENTS</a:t>
            </a:r>
            <a:endParaRPr lang="en-US" sz="1600" b="1" dirty="0">
              <a:solidFill>
                <a:srgbClr val="002060"/>
              </a:solidFill>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a. Firmware</a:t>
            </a:r>
            <a:endParaRPr lang="en-US" sz="16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Embedded code on the microcontroller to manage sensor data acquisition and communication protocols.</a:t>
            </a: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b. Mobile Application</a:t>
            </a:r>
            <a:endParaRPr lang="en-US" sz="16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Real-time display of wound conditions (pH, moisture, etc.).</a:t>
            </a: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Alert system for abnormalities.</a:t>
            </a: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Remote access for doctors and caregivers.</a:t>
            </a: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c. Data Storage &amp; Cloud Integration</a:t>
            </a:r>
            <a:endParaRPr lang="en-US" sz="16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Secure storage of patient wound data for long-term monitoring.</a:t>
            </a: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Data analytics for healing trends and predictions.</a:t>
            </a: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d. Machine Learning </a:t>
            </a:r>
            <a:endParaRPr lang="en-US" sz="16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Predictive models for wound healing progress or infection detection.</a:t>
            </a: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0" indent="0">
              <a:buNone/>
            </a:pPr>
            <a:endParaRPr lang="en-IN" sz="1600" dirty="0">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80999B1E-9774-4338-A494-7EE81CDA6832}" type="slidenum">
              <a:rPr lang="en-IN" smtClean="0"/>
            </a:fld>
            <a:endParaRPr lang="en-IN" dirty="0"/>
          </a:p>
        </p:txBody>
      </p:sp>
      <p:pic>
        <p:nvPicPr>
          <p:cNvPr id="9" name="Picture 2" descr="C:\Users\ENGG_CSE_HOD\Desktop\new logo (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63944" y="-14725"/>
            <a:ext cx="1080056" cy="8880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35560" y="0"/>
            <a:ext cx="910844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endParaRPr lang="en-IN" sz="4800" dirty="0">
              <a:solidFill>
                <a:schemeClr val="bg1"/>
              </a:solidFill>
              <a:latin typeface="AmericanText BT" panose="03040702020708020505" pitchFamily="66" charset="0"/>
              <a:cs typeface="Times New Roman" panose="02020603050405020304" pitchFamily="18" charset="0"/>
            </a:endParaRPr>
          </a:p>
        </p:txBody>
      </p:sp>
      <p:sp>
        <p:nvSpPr>
          <p:cNvPr id="2" name="Title 1"/>
          <p:cNvSpPr>
            <a:spLocks noGrp="1"/>
          </p:cNvSpPr>
          <p:nvPr>
            <p:ph type="title"/>
          </p:nvPr>
        </p:nvSpPr>
        <p:spPr>
          <a:xfrm>
            <a:off x="0" y="-27305"/>
            <a:ext cx="8229600" cy="857250"/>
          </a:xfrm>
        </p:spPr>
        <p:txBody>
          <a:bodyPr>
            <a:normAutofit/>
          </a:bodyPr>
          <a:lstStyle/>
          <a:p>
            <a:r>
              <a:rPr lang="en-US" sz="2400" b="1" dirty="0">
                <a:solidFill>
                  <a:schemeClr val="bg1"/>
                </a:solidFill>
                <a:latin typeface="Times New Roman" panose="02020603050405020304" pitchFamily="18" charset="0"/>
                <a:cs typeface="Times New Roman" panose="02020603050405020304" pitchFamily="18" charset="0"/>
              </a:rPr>
              <a:t>SYSTEM DESIGN/ MODEL</a:t>
            </a:r>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80999B1E-9774-4338-A494-7EE81CDA6832}" type="slidenum">
              <a:rPr lang="en-IN" smtClean="0"/>
            </a:fld>
            <a:endParaRPr lang="en-IN" dirty="0"/>
          </a:p>
        </p:txBody>
      </p:sp>
      <p:pic>
        <p:nvPicPr>
          <p:cNvPr id="9" name="Picture 2" descr="C:\Users\ENGG_CSE_HOD\Desktop\new logo (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63944" y="-14725"/>
            <a:ext cx="1080056" cy="888046"/>
          </a:xfrm>
          <a:prstGeom prst="rect">
            <a:avLst/>
          </a:prstGeom>
          <a:noFill/>
          <a:extLst>
            <a:ext uri="{909E8E84-426E-40DD-AFC4-6F175D3DCCD1}">
              <a14:hiddenFill xmlns:a14="http://schemas.microsoft.com/office/drawing/2010/main">
                <a:solidFill>
                  <a:srgbClr val="FFFFFF"/>
                </a:solidFill>
              </a14:hiddenFill>
            </a:ext>
          </a:extLst>
        </p:spPr>
      </p:pic>
      <p:pic>
        <p:nvPicPr>
          <p:cNvPr id="6" name="Content Placeholder 5"/>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1979712" y="1390743"/>
            <a:ext cx="4176464" cy="3567114"/>
          </a:xfrm>
        </p:spPr>
      </p:pic>
      <p:sp>
        <p:nvSpPr>
          <p:cNvPr id="13" name="TextBox 12"/>
          <p:cNvSpPr txBox="1"/>
          <p:nvPr/>
        </p:nvSpPr>
        <p:spPr>
          <a:xfrm>
            <a:off x="539552" y="987574"/>
            <a:ext cx="4572000" cy="369332"/>
          </a:xfrm>
          <a:prstGeom prst="rect">
            <a:avLst/>
          </a:prstGeom>
          <a:noFill/>
        </p:spPr>
        <p:txBody>
          <a:bodyPr wrap="square">
            <a:spAutoFit/>
          </a:bodyPr>
          <a:lstStyle/>
          <a:p>
            <a:r>
              <a:rPr lang="en-US" b="1" dirty="0">
                <a:solidFill>
                  <a:srgbClr val="002060"/>
                </a:solidFill>
                <a:latin typeface="Times New Roman" panose="02020603050405020304" pitchFamily="18" charset="0"/>
                <a:cs typeface="Times New Roman" panose="02020603050405020304" pitchFamily="18" charset="0"/>
              </a:rPr>
              <a:t>SYSTEM DESIGN:</a:t>
            </a:r>
            <a:endParaRPr lang="en-IN" b="1"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35560" y="0"/>
            <a:ext cx="910844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endParaRPr lang="en-IN" sz="4800" dirty="0">
              <a:solidFill>
                <a:schemeClr val="bg1"/>
              </a:solidFill>
              <a:latin typeface="AmericanText BT" panose="03040702020708020505" pitchFamily="66" charset="0"/>
              <a:cs typeface="Times New Roman" panose="02020603050405020304" pitchFamily="18" charset="0"/>
            </a:endParaRPr>
          </a:p>
        </p:txBody>
      </p:sp>
      <p:sp>
        <p:nvSpPr>
          <p:cNvPr id="2" name="Title 1"/>
          <p:cNvSpPr>
            <a:spLocks noGrp="1"/>
          </p:cNvSpPr>
          <p:nvPr>
            <p:ph type="title"/>
          </p:nvPr>
        </p:nvSpPr>
        <p:spPr>
          <a:xfrm>
            <a:off x="0" y="-27305"/>
            <a:ext cx="8229600" cy="857250"/>
          </a:xfrm>
        </p:spPr>
        <p:txBody>
          <a:bodyPr>
            <a:normAutofit/>
          </a:bodyPr>
          <a:lstStyle/>
          <a:p>
            <a:r>
              <a:rPr lang="en-US" sz="2400" b="1" dirty="0">
                <a:solidFill>
                  <a:schemeClr val="bg1"/>
                </a:solidFill>
                <a:latin typeface="Times New Roman" panose="02020603050405020304" pitchFamily="18" charset="0"/>
                <a:cs typeface="Times New Roman" panose="02020603050405020304" pitchFamily="18" charset="0"/>
              </a:rPr>
              <a:t>TESTING AND VALIDATION</a:t>
            </a:r>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323528" y="1203317"/>
            <a:ext cx="8219256" cy="3837791"/>
          </a:xfrm>
        </p:spPr>
        <p:txBody>
          <a:bodyPr>
            <a:noAutofit/>
          </a:bodyPr>
          <a:lstStyle/>
          <a:p>
            <a:pPr algn="just">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Performance Metrics for AI Models</a:t>
            </a:r>
            <a:endParaRPr lang="en-IN" sz="1600" b="1" dirty="0">
              <a:latin typeface="Times New Roman" panose="02020603050405020304" pitchFamily="18" charset="0"/>
              <a:cs typeface="Times New Roman" panose="02020603050405020304" pitchFamily="18" charset="0"/>
            </a:endParaRPr>
          </a:p>
          <a:p>
            <a:pPr marL="0" indent="0" algn="just">
              <a:buNone/>
            </a:pPr>
            <a:r>
              <a:rPr lang="en-IN" sz="1600" dirty="0">
                <a:latin typeface="Times New Roman" panose="02020603050405020304" pitchFamily="18" charset="0"/>
                <a:cs typeface="Times New Roman" panose="02020603050405020304" pitchFamily="18" charset="0"/>
              </a:rPr>
              <a:t>Use metrics like accuracy, sensitivity (recall), specificity, precision, F1-score, false positive rate, and Matthews correlation coefficient to quantitatively assess AI model performance in wound detection, classification, and segmentation.</a:t>
            </a:r>
            <a:endParaRPr lang="en-IN"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Clinical Validation</a:t>
            </a:r>
            <a:endParaRPr lang="en-US" sz="1600" b="1" dirty="0">
              <a:latin typeface="Times New Roman" panose="02020603050405020304" pitchFamily="18" charset="0"/>
              <a:cs typeface="Times New Roman" panose="02020603050405020304" pitchFamily="18" charset="0"/>
            </a:endParaRPr>
          </a:p>
          <a:p>
            <a:pPr marL="0" indent="0" algn="just">
              <a:buNone/>
            </a:pPr>
            <a:r>
              <a:rPr lang="en-US" sz="1600" dirty="0">
                <a:latin typeface="Times New Roman" panose="02020603050405020304" pitchFamily="18" charset="0"/>
                <a:cs typeface="Times New Roman" panose="02020603050405020304" pitchFamily="18" charset="0"/>
              </a:rPr>
              <a:t>Conduct clinical trials or pilot studies with diabetic patients to compare AI-based wound assessment outputs against expert clinician assessments. This includes wound area measurements, classification of wound severity, infection detection, and healing progress tracking.</a:t>
            </a: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Technical Validation</a:t>
            </a:r>
            <a:endParaRPr lang="en-US" sz="1600" b="1" dirty="0">
              <a:latin typeface="Times New Roman" panose="02020603050405020304" pitchFamily="18" charset="0"/>
              <a:cs typeface="Times New Roman" panose="02020603050405020304" pitchFamily="18" charset="0"/>
            </a:endParaRPr>
          </a:p>
          <a:p>
            <a:pPr marL="0" indent="0" algn="just">
              <a:buNone/>
            </a:pPr>
            <a:r>
              <a:rPr lang="en-US" sz="1600" dirty="0">
                <a:latin typeface="Times New Roman" panose="02020603050405020304" pitchFamily="18" charset="0"/>
                <a:cs typeface="Times New Roman" panose="02020603050405020304" pitchFamily="18" charset="0"/>
              </a:rPr>
              <a:t>Test image acquisition under different conditions to verify robustness and generalizability of the AI algorithms.</a:t>
            </a: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IN"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IN" sz="1600" dirty="0">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80999B1E-9774-4338-A494-7EE81CDA6832}" type="slidenum">
              <a:rPr lang="en-IN" smtClean="0"/>
            </a:fld>
            <a:endParaRPr lang="en-IN" dirty="0"/>
          </a:p>
        </p:txBody>
      </p:sp>
      <p:pic>
        <p:nvPicPr>
          <p:cNvPr id="9" name="Picture 2" descr="C:\Users\ENGG_CSE_HOD\Desktop\new logo (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63944" y="-14725"/>
            <a:ext cx="1080056" cy="8880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35560" y="0"/>
            <a:ext cx="910844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endParaRPr lang="en-IN" sz="4800" dirty="0">
              <a:solidFill>
                <a:schemeClr val="bg1"/>
              </a:solidFill>
              <a:latin typeface="AmericanText BT" panose="03040702020708020505" pitchFamily="66" charset="0"/>
              <a:cs typeface="Times New Roman" panose="02020603050405020304" pitchFamily="18" charset="0"/>
            </a:endParaRPr>
          </a:p>
        </p:txBody>
      </p:sp>
      <p:sp>
        <p:nvSpPr>
          <p:cNvPr id="2" name="Title 1"/>
          <p:cNvSpPr>
            <a:spLocks noGrp="1"/>
          </p:cNvSpPr>
          <p:nvPr>
            <p:ph type="title"/>
          </p:nvPr>
        </p:nvSpPr>
        <p:spPr>
          <a:xfrm>
            <a:off x="0" y="-27305"/>
            <a:ext cx="8229600" cy="857250"/>
          </a:xfrm>
        </p:spPr>
        <p:txBody>
          <a:bodyPr>
            <a:normAutofit/>
          </a:bodyPr>
          <a:lstStyle/>
          <a:p>
            <a:r>
              <a:rPr lang="en-US" sz="2400" b="1" dirty="0">
                <a:solidFill>
                  <a:schemeClr val="bg1"/>
                </a:solidFill>
                <a:latin typeface="Times New Roman" panose="02020603050405020304" pitchFamily="18" charset="0"/>
                <a:cs typeface="Times New Roman" panose="02020603050405020304" pitchFamily="18" charset="0"/>
              </a:rPr>
              <a:t>TESTING AND VALIDATION</a:t>
            </a:r>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251520" y="1200338"/>
            <a:ext cx="8219256" cy="3837791"/>
          </a:xfrm>
        </p:spPr>
        <p:txBody>
          <a:bodyPr>
            <a:noAutofit/>
          </a:bodyPr>
          <a:lstStyle/>
          <a:p>
            <a:pPr algn="just"/>
            <a:r>
              <a:rPr lang="en-US" sz="1600" b="1" dirty="0">
                <a:latin typeface="Times New Roman" panose="02020603050405020304" pitchFamily="18" charset="0"/>
                <a:cs typeface="Times New Roman" panose="02020603050405020304" pitchFamily="18" charset="0"/>
              </a:rPr>
              <a:t>Predictive Validation</a:t>
            </a:r>
            <a:endParaRPr lang="en-US" sz="1600" b="1" dirty="0">
              <a:latin typeface="Times New Roman" panose="02020603050405020304" pitchFamily="18" charset="0"/>
              <a:cs typeface="Times New Roman" panose="02020603050405020304" pitchFamily="18" charset="0"/>
            </a:endParaRPr>
          </a:p>
          <a:p>
            <a:pPr marL="0" indent="0" algn="just">
              <a:buNone/>
            </a:pPr>
            <a:r>
              <a:rPr lang="en-US" sz="1600" dirty="0">
                <a:latin typeface="Times New Roman" panose="02020603050405020304" pitchFamily="18" charset="0"/>
                <a:cs typeface="Times New Roman" panose="02020603050405020304" pitchFamily="18" charset="0"/>
              </a:rPr>
              <a:t>Validate predictive models for wound prognosis to ensure they correctly identify wounds at risk of infection, deterioration, or delayed healing, enabling timely intervention.</a:t>
            </a:r>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Comparative Studies</a:t>
            </a:r>
            <a:endParaRPr lang="en-US" sz="1600" b="1" dirty="0">
              <a:latin typeface="Times New Roman" panose="02020603050405020304" pitchFamily="18" charset="0"/>
              <a:cs typeface="Times New Roman" panose="02020603050405020304" pitchFamily="18" charset="0"/>
            </a:endParaRPr>
          </a:p>
          <a:p>
            <a:pPr marL="0" indent="0" algn="just">
              <a:buNone/>
            </a:pPr>
            <a:r>
              <a:rPr lang="en-US" sz="1600" dirty="0">
                <a:latin typeface="Times New Roman" panose="02020603050405020304" pitchFamily="18" charset="0"/>
                <a:cs typeface="Times New Roman" panose="02020603050405020304" pitchFamily="18" charset="0"/>
              </a:rPr>
              <a:t>Compare the AI-enabled system performance with traditional manual or semi-automated wound assessment methods to demonstrate improvements and advantages</a:t>
            </a:r>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Continuous Monitoring in Real-World Use</a:t>
            </a:r>
            <a:endParaRPr lang="en-US" sz="1600" b="1" dirty="0">
              <a:latin typeface="Times New Roman" panose="02020603050405020304" pitchFamily="18" charset="0"/>
              <a:cs typeface="Times New Roman" panose="02020603050405020304" pitchFamily="18" charset="0"/>
            </a:endParaRPr>
          </a:p>
          <a:p>
            <a:pPr marL="0" indent="0" algn="just">
              <a:buNone/>
            </a:pPr>
            <a:r>
              <a:rPr lang="en-US" sz="1600" dirty="0">
                <a:latin typeface="Times New Roman" panose="02020603050405020304" pitchFamily="18" charset="0"/>
                <a:cs typeface="Times New Roman" panose="02020603050405020304" pitchFamily="18" charset="0"/>
              </a:rPr>
              <a:t>Implement remote monitoring pilots where patients upload wound data over time, assessing system consistency and early detection capabilities in ongoing care.</a:t>
            </a:r>
            <a:endParaRPr lang="en-US" sz="1600" dirty="0">
              <a:latin typeface="Times New Roman" panose="02020603050405020304" pitchFamily="18" charset="0"/>
              <a:cs typeface="Times New Roman" panose="02020603050405020304" pitchFamily="18" charset="0"/>
            </a:endParaRPr>
          </a:p>
          <a:p>
            <a:pPr algn="just"/>
            <a:endParaRPr lang="en-US" sz="1600" dirty="0">
              <a:latin typeface="Times New Roman" panose="02020603050405020304" pitchFamily="18" charset="0"/>
              <a:cs typeface="Times New Roman" panose="02020603050405020304" pitchFamily="18" charset="0"/>
            </a:endParaRPr>
          </a:p>
          <a:p>
            <a:pPr marL="0" indent="0" algn="just">
              <a:buNone/>
            </a:pPr>
            <a:endParaRPr lang="en-IN" sz="1600" dirty="0">
              <a:latin typeface="Times New Roman" panose="02020603050405020304" pitchFamily="18" charset="0"/>
              <a:cs typeface="Times New Roman" panose="02020603050405020304" pitchFamily="18" charset="0"/>
            </a:endParaRPr>
          </a:p>
          <a:p>
            <a:pPr marL="0" indent="0" algn="just">
              <a:buNone/>
            </a:pPr>
            <a:endParaRPr lang="en-IN" sz="1600" dirty="0">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80999B1E-9774-4338-A494-7EE81CDA6832}" type="slidenum">
              <a:rPr lang="en-IN" smtClean="0"/>
            </a:fld>
            <a:endParaRPr lang="en-IN" dirty="0"/>
          </a:p>
        </p:txBody>
      </p:sp>
      <p:pic>
        <p:nvPicPr>
          <p:cNvPr id="9" name="Picture 2" descr="C:\Users\ENGG_CSE_HOD\Desktop\new logo (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63944" y="-14725"/>
            <a:ext cx="1080056" cy="8880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35560" y="0"/>
            <a:ext cx="910844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endParaRPr lang="en-IN" sz="4800" dirty="0">
              <a:solidFill>
                <a:schemeClr val="bg1"/>
              </a:solidFill>
              <a:latin typeface="AmericanText BT" panose="03040702020708020505" pitchFamily="66" charset="0"/>
              <a:cs typeface="Times New Roman" panose="02020603050405020304" pitchFamily="18" charset="0"/>
            </a:endParaRPr>
          </a:p>
        </p:txBody>
      </p:sp>
      <p:sp>
        <p:nvSpPr>
          <p:cNvPr id="2" name="Title 1"/>
          <p:cNvSpPr>
            <a:spLocks noGrp="1"/>
          </p:cNvSpPr>
          <p:nvPr>
            <p:ph type="title"/>
          </p:nvPr>
        </p:nvSpPr>
        <p:spPr>
          <a:xfrm>
            <a:off x="0" y="-27305"/>
            <a:ext cx="8229600" cy="857250"/>
          </a:xfrm>
        </p:spPr>
        <p:txBody>
          <a:bodyPr>
            <a:normAutofit/>
          </a:bodyPr>
          <a:lstStyle/>
          <a:p>
            <a:r>
              <a:rPr lang="en-US" sz="2400" b="1" dirty="0">
                <a:solidFill>
                  <a:schemeClr val="bg1"/>
                </a:solidFill>
                <a:latin typeface="Times New Roman" panose="02020603050405020304" pitchFamily="18" charset="0"/>
                <a:cs typeface="Times New Roman" panose="02020603050405020304" pitchFamily="18" charset="0"/>
              </a:rPr>
              <a:t>WORK PLAN AHEAD</a:t>
            </a:r>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251520" y="1200338"/>
            <a:ext cx="8219256" cy="2955587"/>
          </a:xfrm>
        </p:spPr>
        <p:txBody>
          <a:bodyPr>
            <a:noAutofit/>
          </a:bodyPr>
          <a:lstStyle/>
          <a:p>
            <a:pPr algn="just">
              <a:lnSpc>
                <a:spcPct val="150000"/>
              </a:lnSpc>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Algorithm Optimization and Enhancement</a:t>
            </a:r>
            <a:endParaRPr lang="en-IN"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Prototype Development and Feature Expansion</a:t>
            </a: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Data Collection and Annotation</a:t>
            </a:r>
            <a:endParaRPr lang="en-IN"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Pilot Testing and Usability Studies</a:t>
            </a: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Integration with Healthcare Systems</a:t>
            </a:r>
            <a:endParaRPr lang="en-IN"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Compliance and Regulatory Preparations</a:t>
            </a:r>
            <a:endParaRPr lang="en-IN"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Scalability and Deployment Planning</a:t>
            </a:r>
            <a:endParaRPr lang="en-IN" sz="1050" dirty="0">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80999B1E-9774-4338-A494-7EE81CDA6832}" type="slidenum">
              <a:rPr lang="en-IN" smtClean="0"/>
            </a:fld>
            <a:endParaRPr lang="en-IN" dirty="0"/>
          </a:p>
        </p:txBody>
      </p:sp>
      <p:pic>
        <p:nvPicPr>
          <p:cNvPr id="9" name="Picture 2" descr="C:\Users\ENGG_CSE_HOD\Desktop\new logo (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63944" y="-14725"/>
            <a:ext cx="1080056" cy="8880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6"/>
          <p:cNvSpPr txBox="1"/>
          <p:nvPr/>
        </p:nvSpPr>
        <p:spPr>
          <a:xfrm>
            <a:off x="35560" y="0"/>
            <a:ext cx="9108440" cy="829945"/>
          </a:xfrm>
          <a:prstGeom prst="rect">
            <a:avLst/>
          </a:prstGeom>
          <a:gradFill>
            <a:gsLst>
              <a:gs pos="0">
                <a:srgbClr val="012D86"/>
              </a:gs>
              <a:gs pos="100000">
                <a:srgbClr val="0E2557"/>
              </a:gs>
            </a:gsLst>
            <a:lin ang="5400000" scaled="0"/>
          </a:gradFill>
        </p:spPr>
        <p:txBody>
          <a:bodyPr wrap="square" rtlCol="0">
            <a:spAutoFit/>
          </a:bodyPr>
          <a:lstStyle/>
          <a:p>
            <a:pPr algn="ctr"/>
            <a:r>
              <a:rPr lang="en-IN" sz="4800" dirty="0">
                <a:solidFill>
                  <a:schemeClr val="bg1"/>
                </a:solidFill>
                <a:latin typeface="AmericanText BT" panose="03040702020708020505" pitchFamily="66" charset="0"/>
                <a:cs typeface="Times New Roman" panose="02020603050405020304" pitchFamily="18" charset="0"/>
              </a:rPr>
              <a:t> </a:t>
            </a:r>
            <a:endParaRPr lang="en-IN" sz="4800" dirty="0">
              <a:solidFill>
                <a:schemeClr val="bg1"/>
              </a:solidFill>
              <a:latin typeface="AmericanText BT" panose="03040702020708020505" pitchFamily="66" charset="0"/>
              <a:cs typeface="Times New Roman" panose="02020603050405020304" pitchFamily="18" charset="0"/>
            </a:endParaRPr>
          </a:p>
        </p:txBody>
      </p:sp>
      <p:sp>
        <p:nvSpPr>
          <p:cNvPr id="2" name="Title 1"/>
          <p:cNvSpPr>
            <a:spLocks noGrp="1"/>
          </p:cNvSpPr>
          <p:nvPr>
            <p:ph type="title"/>
          </p:nvPr>
        </p:nvSpPr>
        <p:spPr>
          <a:xfrm>
            <a:off x="0" y="-27305"/>
            <a:ext cx="8229600" cy="857250"/>
          </a:xfrm>
        </p:spPr>
        <p:txBody>
          <a:bodyPr>
            <a:normAutofit/>
          </a:bodyPr>
          <a:lstStyle/>
          <a:p>
            <a:r>
              <a:rPr lang="en-US" sz="2400" b="1" dirty="0">
                <a:solidFill>
                  <a:schemeClr val="bg1"/>
                </a:solidFill>
                <a:latin typeface="Times New Roman" panose="02020603050405020304" pitchFamily="18" charset="0"/>
                <a:cs typeface="Times New Roman" panose="02020603050405020304" pitchFamily="18" charset="0"/>
              </a:rPr>
              <a:t>CONCLUSION</a:t>
            </a:r>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251520" y="987574"/>
            <a:ext cx="8219256" cy="3888432"/>
          </a:xfrm>
        </p:spPr>
        <p:txBody>
          <a:bodyPr>
            <a:noAutofit/>
          </a:bodyPr>
          <a:lstStyle/>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D-AID project presents an innovative approach to address the critical challenge of diabetic chronic wounds through the development of an AI-enabled system that enhances wound assessment, monitoring, and individualized treatment. </a:t>
            </a: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By leveraging advanced deep learning models and integrating remote monitoring along with clinician-patient interfaces, the platform aims to provide accurate, objective, and scalable wound evaluation, allowing for early detection of complications and optimized healing outcomes. </a:t>
            </a: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This digital solution not only improves clinical decision-making but also empowers patients in self-management, ultimately aiming to reduce complications such as infections and amputations, thereby improving the overall quality of life for diabetic patients.</a:t>
            </a:r>
            <a:endParaRPr lang="en-IN" sz="1600" dirty="0">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80999B1E-9774-4338-A494-7EE81CDA6832}" type="slidenum">
              <a:rPr lang="en-IN" smtClean="0"/>
            </a:fld>
            <a:endParaRPr lang="en-IN" dirty="0"/>
          </a:p>
        </p:txBody>
      </p:sp>
      <p:pic>
        <p:nvPicPr>
          <p:cNvPr id="9" name="Picture 2" descr="C:\Users\ENGG_CSE_HOD\Desktop\new logo (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63944" y="-14725"/>
            <a:ext cx="1080056" cy="8880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11886</Words>
  <Application>WPS Presentation</Application>
  <PresentationFormat>On-screen Show (16:9)</PresentationFormat>
  <Paragraphs>334</Paragraphs>
  <Slides>19</Slides>
  <Notes>16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19</vt:i4>
      </vt:variant>
    </vt:vector>
  </HeadingPairs>
  <TitlesOfParts>
    <vt:vector size="30" baseType="lpstr">
      <vt:lpstr>Arial</vt:lpstr>
      <vt:lpstr>SimSun</vt:lpstr>
      <vt:lpstr>Wingdings</vt:lpstr>
      <vt:lpstr>AmericanText BT</vt:lpstr>
      <vt:lpstr>Cambria</vt:lpstr>
      <vt:lpstr>Times New Roman</vt:lpstr>
      <vt:lpstr>American Text</vt:lpstr>
      <vt:lpstr>Microsoft YaHei</vt:lpstr>
      <vt:lpstr>Arial Unicode MS</vt:lpstr>
      <vt:lpstr>Calibri</vt:lpstr>
      <vt:lpstr>Office Theme</vt:lpstr>
      <vt:lpstr>PowerPoint 演示文稿</vt:lpstr>
      <vt:lpstr>CONTENTS</vt:lpstr>
      <vt:lpstr>PROBLEM STATEMENT</vt:lpstr>
      <vt:lpstr>LITERATURE SURVEY</vt:lpstr>
      <vt:lpstr>LITERATURE SURVEY</vt:lpstr>
      <vt:lpstr>METHODOLOGY</vt:lpstr>
      <vt:lpstr>PROPOSED SYSTEM</vt:lpstr>
      <vt:lpstr>PROPOSED SYSTEM</vt:lpstr>
      <vt:lpstr>PROGRESS</vt:lpstr>
      <vt:lpstr>CORE MODULES</vt:lpstr>
      <vt:lpstr>CORE MODULES</vt:lpstr>
      <vt:lpstr>SYSTEM REQUIREMENTS</vt:lpstr>
      <vt:lpstr>SYSTEM REQUIREMENTS</vt:lpstr>
      <vt:lpstr>SYSTEM REQUIREMENTS</vt:lpstr>
      <vt:lpstr>SYSTEM DESIGN/ MODEL</vt:lpstr>
      <vt:lpstr>TESTING AND VALIDATION</vt:lpstr>
      <vt:lpstr>TESTING AND VALIDATION</vt:lpstr>
      <vt:lpstr>WORK PLAN AHEAD</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PHASE 2</dc:title>
  <dc:creator>ZETACODING</dc:creator>
  <cp:lastModifiedBy>CHAITHANYA</cp:lastModifiedBy>
  <cp:revision>99</cp:revision>
  <dcterms:created xsi:type="dcterms:W3CDTF">2022-05-17T10:47:00Z</dcterms:created>
  <dcterms:modified xsi:type="dcterms:W3CDTF">2026-01-10T04:45:04Z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06FD95EBA5C7418998BC487A16BBAFAB_13</vt:lpwstr>
  </property>
  <property fmtid="{D5CDD505-2E9C-101B-9397-08002B2CF9AE}" pid="3" name="KSOProductBuildVer">
    <vt:lpwstr>2057-12.2.0.23197</vt:lpwstr>
  </property>
</Properties>
</file>